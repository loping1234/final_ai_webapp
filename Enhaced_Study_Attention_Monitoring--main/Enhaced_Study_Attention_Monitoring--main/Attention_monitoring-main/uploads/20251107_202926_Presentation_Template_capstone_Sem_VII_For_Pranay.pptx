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Lst>
  <p:notesMasterIdLst>
    <p:notesMasterId r:id="rId17"/>
  </p:notesMasterIdLst>
  <p:handoutMasterIdLst>
    <p:handoutMasterId r:id="rId18"/>
  </p:handoutMasterIdLst>
  <p:sldIdLst>
    <p:sldId id="266" r:id="rId2"/>
    <p:sldId id="267" r:id="rId3"/>
    <p:sldId id="268" r:id="rId4"/>
    <p:sldId id="269" r:id="rId5"/>
    <p:sldId id="270" r:id="rId6"/>
    <p:sldId id="271" r:id="rId7"/>
    <p:sldId id="272" r:id="rId8"/>
    <p:sldId id="277" r:id="rId9"/>
    <p:sldId id="273" r:id="rId10"/>
    <p:sldId id="278" r:id="rId11"/>
    <p:sldId id="274" r:id="rId12"/>
    <p:sldId id="276" r:id="rId13"/>
    <p:sldId id="279" r:id="rId14"/>
    <p:sldId id="281" r:id="rId15"/>
    <p:sldId id="280" r:id="rId16"/>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6062"/>
    <a:srgbClr val="DA31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77064" autoAdjust="0"/>
  </p:normalViewPr>
  <p:slideViewPr>
    <p:cSldViewPr>
      <p:cViewPr>
        <p:scale>
          <a:sx n="50" d="100"/>
          <a:sy n="50" d="100"/>
        </p:scale>
        <p:origin x="1925" y="336"/>
      </p:cViewPr>
      <p:guideLst>
        <p:guide orient="horz" pos="2160"/>
        <p:guide pos="3840"/>
      </p:guideLst>
    </p:cSldViewPr>
  </p:slideViewPr>
  <p:notesTextViewPr>
    <p:cViewPr>
      <p:scale>
        <a:sx n="100" d="100"/>
        <a:sy n="100" d="100"/>
      </p:scale>
      <p:origin x="0" y="0"/>
    </p:cViewPr>
  </p:notesTextViewPr>
  <p:notesViewPr>
    <p:cSldViewPr>
      <p:cViewPr varScale="1">
        <p:scale>
          <a:sx n="53" d="100"/>
          <a:sy n="53" d="100"/>
        </p:scale>
        <p:origin x="2796"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sz="quarter" idx="1"/>
          </p:nvPr>
        </p:nvSpPr>
        <p:spPr>
          <a:xfrm>
            <a:off x="3970938" y="0"/>
            <a:ext cx="3037840" cy="466434"/>
          </a:xfrm>
          <a:prstGeom prst="rect">
            <a:avLst/>
          </a:prstGeom>
        </p:spPr>
        <p:txBody>
          <a:bodyPr vert="horz" lIns="93177" tIns="46589" rIns="93177" bIns="46589" rtlCol="0"/>
          <a:lstStyle>
            <a:lvl1pPr algn="r">
              <a:defRPr sz="1200"/>
            </a:lvl1pPr>
          </a:lstStyle>
          <a:p>
            <a:fld id="{E6D40C89-1D2E-42C9-AD79-5E024A5F6A11}" type="datetimeFigureOut">
              <a:rPr lang="en-US" smtClean="0"/>
              <a:pPr/>
              <a:t>11/7/2025</a:t>
            </a:fld>
            <a:endParaRPr lang="en-US" dirty="0"/>
          </a:p>
        </p:txBody>
      </p:sp>
      <p:sp>
        <p:nvSpPr>
          <p:cNvPr id="4" name="Footer Placeholder 3"/>
          <p:cNvSpPr>
            <a:spLocks noGrp="1"/>
          </p:cNvSpPr>
          <p:nvPr>
            <p:ph type="ftr" sz="quarter" idx="2"/>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6433"/>
          </a:xfrm>
          <a:prstGeom prst="rect">
            <a:avLst/>
          </a:prstGeom>
        </p:spPr>
        <p:txBody>
          <a:bodyPr vert="horz" lIns="93177" tIns="46589" rIns="93177" bIns="46589" rtlCol="0" anchor="b"/>
          <a:lstStyle>
            <a:lvl1pPr algn="r">
              <a:defRPr sz="1200"/>
            </a:lvl1pPr>
          </a:lstStyle>
          <a:p>
            <a:fld id="{E5CA20F1-9B12-4236-A14C-758ACCB4D1AF}" type="slidenum">
              <a:rPr lang="en-US" smtClean="0"/>
              <a:pPr/>
              <a:t>‹#›</a:t>
            </a:fld>
            <a:endParaRPr lang="en-US" dirty="0"/>
          </a:p>
        </p:txBody>
      </p:sp>
    </p:spTree>
    <p:extLst>
      <p:ext uri="{BB962C8B-B14F-4D97-AF65-F5344CB8AC3E}">
        <p14:creationId xmlns:p14="http://schemas.microsoft.com/office/powerpoint/2010/main" val="55236087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7B61CB86-BEE3-4DB7-A266-59DAD553B236}" type="datetimeFigureOut">
              <a:rPr lang="en-IN" smtClean="0"/>
              <a:pPr/>
              <a:t>07-11-2025</a:t>
            </a:fld>
            <a:endParaRPr lang="en-IN"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IN"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IN"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307C1086-E94F-44D0-9E39-85AA8FC12ABE}" type="slidenum">
              <a:rPr lang="en-IN" smtClean="0"/>
              <a:pPr/>
              <a:t>‹#›</a:t>
            </a:fld>
            <a:endParaRPr lang="en-IN" dirty="0"/>
          </a:p>
        </p:txBody>
      </p:sp>
    </p:spTree>
    <p:extLst>
      <p:ext uri="{BB962C8B-B14F-4D97-AF65-F5344CB8AC3E}">
        <p14:creationId xmlns:p14="http://schemas.microsoft.com/office/powerpoint/2010/main" val="54487469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163" name="Google Shape;16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171" name="Google Shape;1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03F21B4C-4238-64E0-ECD7-5F8ABC312302}"/>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42434582-B562-2832-C54C-38EE5C86F75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Traditional classrooms: Teachers manually observe 30+ students - inconsistent and subjective Current online platforms provide analytics hours/days later, missing critical intervention moments Assessment systems use fixed-difficulty quizzes that don't adapt to individual needs or attention patterns Most critically: No connection between engagement monitoring and assessment generation Our solution: Unified platform where monitoring informs assessment, and assessment validates monitoring</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54DEF3C5-819F-2E51-E6E9-6351F75AE2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46826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3BE9215E-7DF4-A149-4A80-FB0FB15EDB77}"/>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CC92F460-ED8C-B0E0-CECA-C4C6063980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Existing engagement detection works with simple binary labels, but attention exists on a spectrum Most systems use only eye-tracking or pose estimation - missing holistic behavioral signals Assessment platforms generate quizzes from generic databases without considering what student was actually studying The biggest gap: No system correlates real-time attention drops with learning outcomes or triggers adaptive interventions Our objective: Create one integrated ecosystem where all components communicate and adapt together</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C711E22D-A067-0E69-C94F-C4C82728F7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51259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0D6F619E-A669-2EFF-D4B6-2BC6FB13A4DA}"/>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6FD7FFDC-B941-9084-5505-60EEC793089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Hafez identified behavioral cues but remained qualitative Gupta achieved 92% accuracy with adaptive EAR but focused only on eye blinks DAISEE demonstrated multi-class engagement but didn't connect to learning outcomes Reddy's driver drowsiness CNN proved real-time processing is feasible on embedded devices (89.5% at 15 fps) ITS research showed 20% performance boost with adaptation, but most remain experimental We synthesize these insights: multimodal monitoring + adaptive assessment + production-grade reliability</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F7B590EA-2746-943F-DD02-A8071B8305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25532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9EB03563-C5D4-6D9B-E032-ADE854088207}"/>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86C84E82-1651-83A2-857E-A997FE5844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dirty="0"/>
              <a:t>Stage 1: Webcam captures video at 30 fps, </a:t>
            </a:r>
            <a:r>
              <a:rPr lang="en-IN" dirty="0" err="1"/>
              <a:t>MediaPipe</a:t>
            </a:r>
            <a:r>
              <a:rPr lang="en-IN" dirty="0"/>
              <a:t> extracts 468 facial landmarks, CNN processes for engagement states Stage 2: When attention drops detected, system automatically triggers re-engagement mechanisms - mini-games adjust difficulty based on attention score, binaural audio enhances focus, GPT-4 chatbot answers concept questions Stage 3: After study session, uploaded PDFs/videos processed through OCR and semantic analysis, concepts extracted and organized into relationship graphs, personalized quizzes generated targeting weak areas All stages run asynchronously - monitoring doesn't block document processing Built on production-grade technologies: Flask for web framework, TensorFlow for deep learning, </a:t>
            </a:r>
            <a:r>
              <a:rPr lang="en-IN" dirty="0" err="1"/>
              <a:t>MediaPipe</a:t>
            </a:r>
            <a:r>
              <a:rPr lang="en-IN" dirty="0"/>
              <a:t> for facial analysis, </a:t>
            </a:r>
            <a:r>
              <a:rPr lang="en-IN" dirty="0" err="1"/>
              <a:t>Supabase</a:t>
            </a:r>
            <a:r>
              <a:rPr lang="en-IN" dirty="0"/>
              <a:t> for cloud synchronization</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FB719F46-7551-90BA-5A70-E19E8FCC69D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041502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D85281CC-0CA9-26DD-AE1F-E5D0D88C2529}"/>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B8DCB845-9B39-C76A-5E7C-3B596996F0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EAR measures eye openness ratio by comparing vertical to horizontal eye distances When EAR drops below 0.27 for 10 consecutive frames, indicates drowsiness - we use 10 frames not 1 to avoid false positives from natural blinks MAR measures mouth opening aspect ratio - sustained high values indicate yawning, a behavioral signal of fatigue or low arousal Head pose uses facial midline tracking - deviations &gt;25 pixels suggest looking away from screen Vertical chin oscillation over 2 seconds detects microsleep or drowsiness-related nodding These metrics adapted from driver drowsiness research but validated on educational datasets for student behavior All thresholds empirically validated through multiple testing sessions</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276D99B5-D6D1-EB12-7A22-8BE3DE1895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141635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E0DE0883-B2E4-461D-60A1-06A567F34053}"/>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4D41EBC6-7846-C082-DBA4-98610D848AE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EAR measures eye openness ratio by comparing vertical to horizontal eye distances When EAR drops below 0.27 for 10 consecutive frames, indicates drowsiness - we use 10 frames not 1 to avoid false positives from natural blinks MAR measures mouth opening aspect ratio - sustained high values indicate yawning, a behavioral signal of fatigue or low arousal Head pose uses facial midline tracking - deviations &gt;25 pixels suggest looking away from screen Vertical chin oscillation over 2 seconds detects microsleep or drowsiness-related nodding These metrics adapted from driver drowsiness research but validated on educational datasets for student behavior All thresholds empirically validated through multiple testing sessions</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A8EF1E3F-A5EA-8FF6-CA2A-87BE1CE0FC5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969157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BF7A1577-0CD7-22FE-9D99-5CAFEC96F28C}"/>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B0B6AAD4-2A85-C8A8-6656-390E475DB30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Documents processed through three parallel streams capturing different information modalities Text stream uses transformer model to generate semantic embeddings capturing meaning and relationships Layout stream employs CNN to understand document structure - headers, bullet points, tables, emphasis .Weights determine how much each modality contributes - for text-heavy PDF, text weight higher; for video lecture, audio weight increases Self-attention layer then captures cross-modal dependencies - recognizing that diagram in layout relates to specific text passage Layer normalization stabilizes the fused representation before feeding to assessment generator Final output: questions that reflect multimodal understanding - for example, asking about concept explained in both text and diagram This ensures generated assessments match how student actually studied the material Fused representation also incorporates attention history - targeting concepts where student showed disengagement</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B99C433C-6FBA-B546-43DA-AD21B36C3A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257519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FC2CD2C6-CA97-8EAC-789B-147ED7DBB492}"/>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6E4DBBA5-A6A8-C56A-0CF4-AF17B0DDE34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Traditional single-pass retrieval only finds content directly matching query terms Multi-hop iteratively expands context by combining query with previously retrieved documents At each hop, we re-embed the expanded context using BERT transformer and find more semantically related material This discovers implicit connections across document sections - for example, if studying "Docker", first hop retrieves "containerization" concepts, second hop might connect to "microservices architecture" even though not in original query Critical for generating quizzes that test understanding of relationships between concepts, not just isolated facts Uses cosine similarity on transformer embeddings to measure semantic relatedness Continues until confidence threshold met or maximum hops reached This is what enables our system to ask questions like "How does concept A relate to concept B" when A and B appear in different document sections All-MiniLM-L6-v2 chosen for balance of performance and speed - produces 384-dimensional embeddings</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D558A519-A62E-B8BB-B9C3-6D9EC393308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729355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577DDF7D-BCED-B275-7702-3706037CDA2E}"/>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10F02FB4-A00B-A6F6-DCC9-9925D51893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IN" dirty="0"/>
              <a:t>System processes 30 FPS video input and outputs 31 FPS with all computations - demonstrating real-time capability Memory usage just 162 MB makes it deployable on standard laptops, no GPU required CPU utilization 15-25% means won't interfere with other applications student might be running Sub-50ms response time ensures smooth, lag-free user experience Flask provides lightweight web framework with modular RESTful API architecture </a:t>
            </a:r>
            <a:r>
              <a:rPr lang="en-IN" dirty="0" err="1"/>
              <a:t>MediaPipe</a:t>
            </a:r>
            <a:r>
              <a:rPr lang="en-IN" dirty="0"/>
              <a:t> handles 468-point facial landmark detection, TensorFlow runs CNN inference BERT generates document embeddings for semantic search, Gemini API handles concept clustering and quiz generation </a:t>
            </a:r>
            <a:r>
              <a:rPr lang="en-IN" dirty="0" err="1"/>
              <a:t>Supabase</a:t>
            </a:r>
            <a:r>
              <a:rPr lang="en-IN" dirty="0"/>
              <a:t> cloud database enables real-time synchronization across devices and role-based access for students, teachers, parents Multiple fallback mechanisms ensure reliability - if primary yawn CNN fails, system falls back to MAR-only detection Exception handlers cover all failure modes: camera initialization errors, dropped frames, network timeouts, model inference failures Circuit breakers prevent one component failure from crashing entire system Differential privacy with Laplace noise protects student data in analytics.</a:t>
            </a:r>
            <a:br>
              <a:rPr lang="en-IN" dirty="0"/>
            </a:br>
            <a:br>
              <a:rPr lang="en-IN" dirty="0"/>
            </a:br>
            <a:r>
              <a:rPr lang="en-US" dirty="0"/>
              <a:t>Overall accuracy 95.9% validates multimodal approach effectiveness Yawn detection highest at 98.9% - high precision (93%) means few false positives, high recall (98%) means we catch almost all yawns Presence detection nearly perfect with 100% precision - when we say student is absent, they definitely are Drowsiness and nodding have lower precision but very high recall - we catch almost all instances but with some false alarms This trade-off intentional for educational context - better to occasionally alert when not needed than miss actual disengagement 99.5% crash-free rate demonstrates production-ready reliability - only 1 failure in 200 testing sessions Real-time performance metrics show system runs smoothly on consumer hardware These results validate our computer vision pipeline can reliably detect engagement states in real educational settings</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D962CBF4-BD01-E5EF-F7EE-87875A5402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6056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28BA6FE6-07AD-F582-FA0C-93B28106E866}"/>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A78A4AC8-2D79-C785-B8F3-3D9608B70D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Overall accuracy 95.9% validates multimodal approach effectiveness Yawn detection highest at 98.9% - high precision (93%) means few false positives, high recall (98%) means we catch almost all yawns Presence detection nearly perfect with 100% precision - when we say student is absent, they definitely are Drowsiness and nodding have lower precision but very high recall - we catch almost all instances but with some false alarms This trade-off intentional for educational context - better to occasionally alert when not needed than miss actual disengagement 99.5% crash-free rate demonstrates production-ready reliability - only 1 failure in 200 testing sessions Real-time performance metrics show system runs smoothly on consumer hardware These results validate our computer vision pipeline can reliably detect engagement states in real educational settings</a:t>
            </a:r>
            <a:br>
              <a:rPr lang="en-US" dirty="0"/>
            </a:br>
            <a:r>
              <a:rPr lang="en-US" dirty="0"/>
              <a:t>Controlled experiment with 42 students learning Kubernetes concepts Adaptive group received real-time monitoring with adaptive quizzes, control group got fixed-difficulty quizzes without monitoring Adaptive group improved 4.6 points on average vs 2.9 for control - 59% higher learning gains Statistical test confirms this is highly significant (p &lt; 0.001), not due to chance Cohen's d of 1.24 indicates very large effect size - one of the largest reported in educational technology interventions Strong correlation (r=0.68) between attention scores and test performance validates that behavioral cues genuinely predict learning Three PhD educators independently evaluated 100 AI-generated quiz questions across six dimensions: correctness, clarity, relevance, difficulty appropriateness, conceptual depth, educational value Fleiss' kappa of 0.74 shows substantial inter-rater agreement - evaluators consistently agreed on quality Mean scores 4.1-4.7 out of 5 and 91% scoring 4+ means generated questions meet educational standards This validates both monitoring accuracy and assessment personalization effectiveness</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B8C9A618-995D-5633-2A0F-D8C7A91C8F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9880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B3E69822-4ED9-30A1-FAA7-C671660B924C}"/>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CF44F6DA-FF64-70CF-49F4-C30538C3C30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r>
              <a:rPr lang="en-US" dirty="0"/>
              <a:t>Successfully created first unified platform integrating real-time behavioral monitoring with content-aware adaptive assessment</a:t>
            </a:r>
          </a:p>
          <a:p>
            <a:r>
              <a:rPr lang="en-US" dirty="0"/>
              <a:t>Achieves near-human-level accuracy (95.9%) in engagement detection using non-intrusive webcam-based monitoring</a:t>
            </a:r>
          </a:p>
          <a:p>
            <a:r>
              <a:rPr lang="en-US" dirty="0"/>
              <a:t>Adaptive assessment demonstrates measurable learning improvements - large effect size validates educational effectiveness</a:t>
            </a:r>
          </a:p>
          <a:p>
            <a:r>
              <a:rPr lang="en-US" dirty="0"/>
              <a:t>System is production-ready with high reliability and low latency, not just a research prototype</a:t>
            </a:r>
          </a:p>
          <a:p>
            <a:r>
              <a:rPr lang="en-US" dirty="0"/>
              <a:t>Real-world impact: 20% improvement consistent with intelligent tutoring systems literature</a:t>
            </a:r>
          </a:p>
          <a:p>
            <a:r>
              <a:rPr lang="en-US" dirty="0"/>
              <a:t>Provides personalized pathways that adapt to individual student needs and progress</a:t>
            </a:r>
          </a:p>
          <a:p>
            <a:r>
              <a:rPr lang="en-US" dirty="0"/>
              <a:t>Multi-stakeholder approach enables collaborative support - parents and teachers can monitor and intervene appropriately</a:t>
            </a:r>
          </a:p>
          <a:p>
            <a:r>
              <a:rPr lang="en-US" dirty="0"/>
              <a:t>Privacy-preserving design ensures student data protection through differential privacy</a:t>
            </a:r>
          </a:p>
          <a:p>
            <a:r>
              <a:rPr lang="en-US" dirty="0"/>
              <a:t>Future work will expand emotional recognition beyond basic engagement states to detect frustration, confusion, excitement</a:t>
            </a:r>
          </a:p>
          <a:p>
            <a:r>
              <a:rPr lang="en-US" dirty="0"/>
              <a:t>Multi-language support will make platform accessible globally</a:t>
            </a:r>
          </a:p>
          <a:p>
            <a:r>
              <a:rPr lang="en-US" dirty="0"/>
              <a:t>Mobile apps will enable learning anywhere, not just at desks</a:t>
            </a:r>
          </a:p>
          <a:p>
            <a:r>
              <a:rPr lang="en-US" dirty="0"/>
              <a:t>Advanced visualizations will help students understand concept relationships better</a:t>
            </a:r>
          </a:p>
          <a:p>
            <a:r>
              <a:rPr lang="en-US" dirty="0"/>
              <a:t>Federated learning will allow model improvements while keeping personal data on-device</a:t>
            </a:r>
          </a:p>
        </p:txBody>
      </p:sp>
      <p:sp>
        <p:nvSpPr>
          <p:cNvPr id="171" name="Google Shape;171;p15:notes">
            <a:extLst>
              <a:ext uri="{FF2B5EF4-FFF2-40B4-BE49-F238E27FC236}">
                <a16:creationId xmlns:a16="http://schemas.microsoft.com/office/drawing/2014/main" id="{0D1B8414-2AEF-03DD-3B2A-0AFCA42F4E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50011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A6927015-B483-576D-C719-B96E80C6F0F0}"/>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48C0EF87-B9CB-3F06-7BB0-D497EC52C8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endParaRPr lang="en-US" dirty="0"/>
          </a:p>
        </p:txBody>
      </p:sp>
      <p:sp>
        <p:nvSpPr>
          <p:cNvPr id="171" name="Google Shape;171;p15:notes">
            <a:extLst>
              <a:ext uri="{FF2B5EF4-FFF2-40B4-BE49-F238E27FC236}">
                <a16:creationId xmlns:a16="http://schemas.microsoft.com/office/drawing/2014/main" id="{9043DFFC-F8F1-0486-FF52-54B51E7B8B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10291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a:extLst>
            <a:ext uri="{FF2B5EF4-FFF2-40B4-BE49-F238E27FC236}">
              <a16:creationId xmlns:a16="http://schemas.microsoft.com/office/drawing/2014/main" id="{2A351858-D3A1-49DE-4DE3-C3C125BA54CF}"/>
            </a:ext>
          </a:extLst>
        </p:cNvPr>
        <p:cNvGrpSpPr/>
        <p:nvPr/>
      </p:nvGrpSpPr>
      <p:grpSpPr>
        <a:xfrm>
          <a:off x="0" y="0"/>
          <a:ext cx="0" cy="0"/>
          <a:chOff x="0" y="0"/>
          <a:chExt cx="0" cy="0"/>
        </a:xfrm>
      </p:grpSpPr>
      <p:sp>
        <p:nvSpPr>
          <p:cNvPr id="170" name="Google Shape;170;p15:notes">
            <a:extLst>
              <a:ext uri="{FF2B5EF4-FFF2-40B4-BE49-F238E27FC236}">
                <a16:creationId xmlns:a16="http://schemas.microsoft.com/office/drawing/2014/main" id="{A451817D-6FC9-C7C7-7FCC-041D88315F4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dirty="0"/>
              <a:t>Our work builds on extensive prior research across multiple domains Driver drowsiness detection provided technical foundation showing real-time CNN processing is feasible Educational engagement research validated our behavioral metrics for student context Intelligent tutoring systems demonstrated value of adaptive approaches Gamification studies informed our re-engagement strategies Complete bibliography with 16 peer-reviewed references available in published paper Code and trained models released open-source under MIT license for research community Compatible with standard Python deep learning stack - easy to reproduce and extend We welcome questions and collaboration opportunities</a:t>
            </a:r>
            <a:endParaRPr sz="1200" b="0" i="0" u="none" strike="noStrike" cap="none" dirty="0">
              <a:solidFill>
                <a:schemeClr val="dk1"/>
              </a:solidFill>
              <a:latin typeface="Calibri"/>
              <a:ea typeface="Calibri"/>
              <a:cs typeface="Calibri"/>
              <a:sym typeface="Calibri"/>
            </a:endParaRPr>
          </a:p>
        </p:txBody>
      </p:sp>
      <p:sp>
        <p:nvSpPr>
          <p:cNvPr id="171" name="Google Shape;171;p15:notes">
            <a:extLst>
              <a:ext uri="{FF2B5EF4-FFF2-40B4-BE49-F238E27FC236}">
                <a16:creationId xmlns:a16="http://schemas.microsoft.com/office/drawing/2014/main" id="{4555829B-6DBF-1E32-A4AF-41167A6439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8578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5978960-B552-44AC-8204-0D58B7D9F8D5}" type="datetime1">
              <a:rPr lang="en-US" smtClean="0"/>
              <a:t>11/7/2025</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8563089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52151" y="1342408"/>
            <a:ext cx="10515600" cy="873911"/>
          </a:xfrm>
        </p:spPr>
        <p:txBody>
          <a:bodyPr/>
          <a:lstStyle/>
          <a:p>
            <a:r>
              <a:rPr lang="en-US"/>
              <a:t>Click to edit Master title style</a:t>
            </a:r>
            <a:endParaRPr lang="en-US" dirty="0"/>
          </a:p>
        </p:txBody>
      </p:sp>
      <p:sp>
        <p:nvSpPr>
          <p:cNvPr id="3" name="Content Placeholder 2"/>
          <p:cNvSpPr>
            <a:spLocks noGrp="1"/>
          </p:cNvSpPr>
          <p:nvPr>
            <p:ph idx="1"/>
          </p:nvPr>
        </p:nvSpPr>
        <p:spPr>
          <a:xfrm>
            <a:off x="838200" y="2276871"/>
            <a:ext cx="10515600" cy="390009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E1CC72-C4BC-44F6-A4B8-F073387FA3E8}" type="datetime1">
              <a:rPr lang="en-US" smtClean="0"/>
              <a:t>11/7/2025</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22393672"/>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5522982-2ECF-49E2-803E-39684D079ECF}" type="datetime1">
              <a:rPr lang="en-US" smtClean="0"/>
              <a:t>11/7/2025</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501101292"/>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A58397-A5C8-45A3-9F3C-826B6662D586}" type="datetime1">
              <a:rPr lang="en-US" smtClean="0"/>
              <a:t>11/7/2025</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800915900"/>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FB2C4BE-9BD3-4C56-BD42-99EB99CF23D6}" type="datetime1">
              <a:rPr lang="en-US" smtClean="0"/>
              <a:t>11/7/2025</a:t>
            </a:fld>
            <a:endParaRPr lang="en-IN" dirty="0"/>
          </a:p>
        </p:txBody>
      </p:sp>
      <p:sp>
        <p:nvSpPr>
          <p:cNvPr id="8" name="Footer Placeholder 7"/>
          <p:cNvSpPr>
            <a:spLocks noGrp="1"/>
          </p:cNvSpPr>
          <p:nvPr>
            <p:ph type="ftr" sz="quarter" idx="11"/>
          </p:nvPr>
        </p:nvSpPr>
        <p:spPr/>
        <p:txBody>
          <a:bodyPr/>
          <a:lstStyle/>
          <a:p>
            <a:r>
              <a:rPr lang="en-US"/>
              <a:t>Capstone Project Review, AY 25-26, STME, NMIMS Navi Mumbai</a:t>
            </a:r>
            <a:endParaRPr lang="en-IN" dirty="0"/>
          </a:p>
        </p:txBody>
      </p:sp>
      <p:sp>
        <p:nvSpPr>
          <p:cNvPr id="9" name="Slide Number Placeholder 8"/>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596101569"/>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EB1AC14-9341-4C43-889D-F1AB646BCFDE}" type="datetime1">
              <a:rPr lang="en-US" smtClean="0"/>
              <a:t>11/7/2025</a:t>
            </a:fld>
            <a:endParaRPr lang="en-IN" dirty="0"/>
          </a:p>
        </p:txBody>
      </p:sp>
      <p:sp>
        <p:nvSpPr>
          <p:cNvPr id="4" name="Footer Placeholder 3"/>
          <p:cNvSpPr>
            <a:spLocks noGrp="1"/>
          </p:cNvSpPr>
          <p:nvPr>
            <p:ph type="ftr" sz="quarter" idx="11"/>
          </p:nvPr>
        </p:nvSpPr>
        <p:spPr/>
        <p:txBody>
          <a:bodyPr/>
          <a:lstStyle/>
          <a:p>
            <a:r>
              <a:rPr lang="en-US"/>
              <a:t>Capstone Project Review, AY 25-26, STME, NMIMS Navi Mumbai</a:t>
            </a:r>
            <a:endParaRPr lang="en-IN" dirty="0"/>
          </a:p>
        </p:txBody>
      </p:sp>
      <p:sp>
        <p:nvSpPr>
          <p:cNvPr id="5" name="Slide Number Placeholder 4"/>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766992686"/>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AEBA16-2656-4F7D-ABD2-9F6D44E5E133}" type="datetime1">
              <a:rPr lang="en-US" smtClean="0"/>
              <a:t>11/7/2025</a:t>
            </a:fld>
            <a:endParaRPr lang="en-IN" dirty="0"/>
          </a:p>
        </p:txBody>
      </p:sp>
      <p:sp>
        <p:nvSpPr>
          <p:cNvPr id="3" name="Footer Placeholder 2"/>
          <p:cNvSpPr>
            <a:spLocks noGrp="1"/>
          </p:cNvSpPr>
          <p:nvPr>
            <p:ph type="ftr" sz="quarter" idx="11"/>
          </p:nvPr>
        </p:nvSpPr>
        <p:spPr/>
        <p:txBody>
          <a:bodyPr/>
          <a:lstStyle/>
          <a:p>
            <a:r>
              <a:rPr lang="en-US"/>
              <a:t>Capstone Project Review, AY 25-26, STME, NMIMS Navi Mumbai</a:t>
            </a:r>
            <a:endParaRPr lang="en-IN" dirty="0"/>
          </a:p>
        </p:txBody>
      </p:sp>
      <p:sp>
        <p:nvSpPr>
          <p:cNvPr id="4" name="Slide Number Placeholder 3"/>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2646325064"/>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0D65B27-835E-4215-B91B-885E1016A47B}" type="datetime1">
              <a:rPr lang="en-US" smtClean="0"/>
              <a:t>11/7/2025</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92185736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9B2C77F-DFBE-4F62-96A0-F702CC47EC96}" type="datetime1">
              <a:rPr lang="en-US" smtClean="0"/>
              <a:t>11/7/2025</a:t>
            </a:fld>
            <a:endParaRPr lang="en-IN" dirty="0"/>
          </a:p>
        </p:txBody>
      </p:sp>
      <p:sp>
        <p:nvSpPr>
          <p:cNvPr id="6" name="Footer Placeholder 5"/>
          <p:cNvSpPr>
            <a:spLocks noGrp="1"/>
          </p:cNvSpPr>
          <p:nvPr>
            <p:ph type="ftr" sz="quarter" idx="11"/>
          </p:nvPr>
        </p:nvSpPr>
        <p:spPr/>
        <p:txBody>
          <a:bodyPr/>
          <a:lstStyle/>
          <a:p>
            <a:r>
              <a:rPr lang="en-US"/>
              <a:t>Capstone Project Review, AY 25-26, STME, NMIMS Navi Mumbai</a:t>
            </a:r>
            <a:endParaRPr lang="en-IN" dirty="0"/>
          </a:p>
        </p:txBody>
      </p:sp>
      <p:sp>
        <p:nvSpPr>
          <p:cNvPr id="7" name="Slide Number Placeholder 6"/>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278724050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D049446-9A6E-4F36-BB48-EE6F0348B30A}" type="datetime1">
              <a:rPr lang="en-US" smtClean="0"/>
              <a:t>11/7/2025</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1931254063"/>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51C186-B3DB-44CA-9B97-B6325990F615}" type="datetime1">
              <a:rPr lang="en-US" smtClean="0"/>
              <a:t>11/7/2025</a:t>
            </a:fld>
            <a:endParaRPr lang="en-IN" dirty="0"/>
          </a:p>
        </p:txBody>
      </p:sp>
      <p:sp>
        <p:nvSpPr>
          <p:cNvPr id="5" name="Footer Placeholder 4"/>
          <p:cNvSpPr>
            <a:spLocks noGrp="1"/>
          </p:cNvSpPr>
          <p:nvPr>
            <p:ph type="ftr" sz="quarter" idx="11"/>
          </p:nvPr>
        </p:nvSpPr>
        <p:spPr/>
        <p:txBody>
          <a:bodyPr/>
          <a:lstStyle/>
          <a:p>
            <a:r>
              <a:rPr lang="en-US"/>
              <a:t>Capstone Project Review, AY 25-26, STME, NMIMS Navi Mumbai</a:t>
            </a:r>
            <a:endParaRPr lang="en-IN" dirty="0"/>
          </a:p>
        </p:txBody>
      </p:sp>
      <p:sp>
        <p:nvSpPr>
          <p:cNvPr id="6" name="Slide Number Placeholder 5"/>
          <p:cNvSpPr>
            <a:spLocks noGrp="1"/>
          </p:cNvSpPr>
          <p:nvPr>
            <p:ph type="sldNum" sz="quarter" idx="12"/>
          </p:nvPr>
        </p:nvSpPr>
        <p:spPr/>
        <p:txBody>
          <a:bodyPr/>
          <a:lstStyle/>
          <a:p>
            <a:fld id="{81B41890-78B1-446D-ACB8-09DB24EB6BC7}" type="slidenum">
              <a:rPr lang="en-IN" smtClean="0"/>
              <a:pPr/>
              <a:t>‹#›</a:t>
            </a:fld>
            <a:endParaRPr lang="en-IN" dirty="0"/>
          </a:p>
        </p:txBody>
      </p:sp>
    </p:spTree>
    <p:extLst>
      <p:ext uri="{BB962C8B-B14F-4D97-AF65-F5344CB8AC3E}">
        <p14:creationId xmlns:p14="http://schemas.microsoft.com/office/powerpoint/2010/main" val="3717582531"/>
      </p:ext>
    </p:extLst>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47844" y="864853"/>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34B4AA-F46E-45E4-A043-C77A70EF94D1}" type="datetime1">
              <a:rPr lang="en-US" smtClean="0"/>
              <a:t>11/7/2025</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Capstone Project Review, AY 25-26, STME, NMIMS Navi Mumbai</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B41890-78B1-446D-ACB8-09DB24EB6BC7}" type="slidenum">
              <a:rPr lang="en-IN" smtClean="0"/>
              <a:pPr/>
              <a:t>‹#›</a:t>
            </a:fld>
            <a:endParaRPr lang="en-IN" dirty="0"/>
          </a:p>
        </p:txBody>
      </p:sp>
      <p:sp>
        <p:nvSpPr>
          <p:cNvPr id="8" name="Rectangle 7"/>
          <p:cNvSpPr/>
          <p:nvPr userDrawn="1"/>
        </p:nvSpPr>
        <p:spPr>
          <a:xfrm>
            <a:off x="0" y="-13692"/>
            <a:ext cx="12211288" cy="706388"/>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p:cNvGrpSpPr/>
          <p:nvPr userDrawn="1"/>
        </p:nvGrpSpPr>
        <p:grpSpPr>
          <a:xfrm>
            <a:off x="209364" y="293871"/>
            <a:ext cx="6744072" cy="858202"/>
            <a:chOff x="119336" y="1512082"/>
            <a:chExt cx="6479501" cy="858202"/>
          </a:xfrm>
          <a:effectLst>
            <a:outerShdw blurRad="50800" dist="76200" dir="2700000" algn="tl" rotWithShape="0">
              <a:prstClr val="black">
                <a:alpha val="70000"/>
              </a:prstClr>
            </a:outerShdw>
          </a:effectLst>
        </p:grpSpPr>
        <p:sp>
          <p:nvSpPr>
            <p:cNvPr id="10" name="Rounded Rectangle 9"/>
            <p:cNvSpPr/>
            <p:nvPr/>
          </p:nvSpPr>
          <p:spPr>
            <a:xfrm>
              <a:off x="119336" y="1512082"/>
              <a:ext cx="6479501" cy="858202"/>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91344" y="1565710"/>
              <a:ext cx="1872208" cy="786194"/>
            </a:xfrm>
            <a:prstGeom prst="rect">
              <a:avLst/>
            </a:prstGeom>
            <a:ln>
              <a:noFill/>
            </a:ln>
          </p:spPr>
        </p:pic>
      </p:grpSp>
      <p:sp>
        <p:nvSpPr>
          <p:cNvPr id="12" name="Title 1"/>
          <p:cNvSpPr txBox="1">
            <a:spLocks/>
          </p:cNvSpPr>
          <p:nvPr userDrawn="1"/>
        </p:nvSpPr>
        <p:spPr>
          <a:xfrm>
            <a:off x="2285806" y="319528"/>
            <a:ext cx="4495852" cy="78619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n-US" sz="2400" b="1" dirty="0">
                <a:solidFill>
                  <a:srgbClr val="606062"/>
                </a:solidFill>
                <a:latin typeface="Arial Narrow" panose="020B0606020202030204" pitchFamily="34" charset="0"/>
              </a:rPr>
              <a:t>School of Technology Management &amp; Engineering | Navi Mumbai</a:t>
            </a:r>
          </a:p>
        </p:txBody>
      </p:sp>
      <p:sp>
        <p:nvSpPr>
          <p:cNvPr id="13" name="Rectangle 12"/>
          <p:cNvSpPr/>
          <p:nvPr userDrawn="1"/>
        </p:nvSpPr>
        <p:spPr>
          <a:xfrm>
            <a:off x="0" y="6772945"/>
            <a:ext cx="12211288" cy="85055"/>
          </a:xfrm>
          <a:prstGeom prst="rec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p:cNvCxnSpPr/>
          <p:nvPr userDrawn="1"/>
        </p:nvCxnSpPr>
        <p:spPr>
          <a:xfrm>
            <a:off x="2232966" y="319528"/>
            <a:ext cx="0" cy="814165"/>
          </a:xfrm>
          <a:prstGeom prst="line">
            <a:avLst/>
          </a:prstGeom>
          <a:ln>
            <a:solidFill>
              <a:schemeClr val="bg1">
                <a:lumMod val="75000"/>
              </a:schemeClr>
            </a:solidFill>
          </a:ln>
          <a:scene3d>
            <a:camera prst="orthographicFront"/>
            <a:lightRig rig="threePt" dir="t"/>
          </a:scene3d>
          <a:sp3d>
            <a:bevelT w="139700" prst="cross"/>
          </a:sp3d>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3357944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4"/>
          <p:cNvSpPr txBox="1">
            <a:spLocks noGrp="1"/>
          </p:cNvSpPr>
          <p:nvPr>
            <p:ph type="ctrTitle"/>
          </p:nvPr>
        </p:nvSpPr>
        <p:spPr>
          <a:xfrm>
            <a:off x="609600" y="2693987"/>
            <a:ext cx="10820400" cy="1470025"/>
          </a:xfrm>
          <a:prstGeom prst="rect">
            <a:avLst/>
          </a:prstGeom>
          <a:noFill/>
          <a:ln>
            <a:noFill/>
          </a:ln>
        </p:spPr>
        <p:txBody>
          <a:bodyPr spcFirstLastPara="1" vert="horz" wrap="square" lIns="91425" tIns="45700" rIns="91425" bIns="45700" rtlCol="0" anchor="ctr" anchorCtr="0">
            <a:noAutofit/>
          </a:bodyPr>
          <a:lstStyle/>
          <a:p>
            <a:pPr>
              <a:lnSpc>
                <a:spcPct val="100000"/>
              </a:lnSpc>
              <a:spcBef>
                <a:spcPts val="0"/>
              </a:spcBef>
              <a:buClr>
                <a:schemeClr val="dk1"/>
              </a:buClr>
              <a:buSzPts val="3600"/>
            </a:pPr>
            <a:r>
              <a:rPr lang="en-IN" sz="3600" b="1" dirty="0">
                <a:solidFill>
                  <a:schemeClr val="dk1"/>
                </a:solidFill>
                <a:latin typeface="Calibri"/>
                <a:ea typeface="Calibri"/>
                <a:cs typeface="Calibri"/>
                <a:sym typeface="Calibri"/>
              </a:rPr>
              <a:t>                                                     BTech CE</a:t>
            </a:r>
            <a:br>
              <a:rPr lang="en-IN" sz="3600" b="1" dirty="0">
                <a:solidFill>
                  <a:schemeClr val="dk1"/>
                </a:solidFill>
                <a:latin typeface="Calibri"/>
                <a:ea typeface="Calibri"/>
                <a:cs typeface="Calibri"/>
                <a:sym typeface="Calibri"/>
              </a:rPr>
            </a:br>
            <a:r>
              <a:rPr lang="en-IN" dirty="0"/>
              <a:t>Final Presentation (Sem VII)</a:t>
            </a:r>
            <a:br>
              <a:rPr lang="en-IN" dirty="0"/>
            </a:br>
            <a:r>
              <a:rPr lang="en-IN" dirty="0"/>
              <a:t>A.Y. 2025-2026</a:t>
            </a:r>
            <a:br>
              <a:rPr lang="en-IN" sz="3600" b="1" dirty="0">
                <a:solidFill>
                  <a:schemeClr val="dk1"/>
                </a:solidFill>
                <a:latin typeface="Calibri"/>
                <a:ea typeface="Calibri"/>
                <a:cs typeface="Calibri"/>
                <a:sym typeface="Calibri"/>
              </a:rPr>
            </a:br>
            <a:r>
              <a:rPr lang="en-IN" sz="4800" dirty="0"/>
              <a:t>Project Title:</a:t>
            </a:r>
            <a:r>
              <a:rPr lang="en-US" sz="3600" b="1" dirty="0"/>
              <a:t>Real-Time Multimodal AI Framework for Student Engagement Detection and Adaptive Assessment Generation</a:t>
            </a:r>
            <a:br>
              <a:rPr lang="en-US" sz="3600" b="1" dirty="0"/>
            </a:br>
            <a:endParaRPr sz="3600" b="1" dirty="0">
              <a:solidFill>
                <a:schemeClr val="dk1"/>
              </a:solidFill>
              <a:latin typeface="Calibri"/>
              <a:ea typeface="Calibri"/>
              <a:cs typeface="Calibri"/>
              <a:sym typeface="Calibri"/>
            </a:endParaRPr>
          </a:p>
        </p:txBody>
      </p:sp>
      <p:sp>
        <p:nvSpPr>
          <p:cNvPr id="166" name="Google Shape;166;p14"/>
          <p:cNvSpPr txBox="1">
            <a:spLocks noGrp="1"/>
          </p:cNvSpPr>
          <p:nvPr>
            <p:ph type="subTitle" idx="1"/>
          </p:nvPr>
        </p:nvSpPr>
        <p:spPr>
          <a:xfrm>
            <a:off x="1143000" y="5259647"/>
            <a:ext cx="9982200" cy="1593273"/>
          </a:xfrm>
          <a:prstGeom prst="rect">
            <a:avLst/>
          </a:prstGeom>
          <a:noFill/>
          <a:ln>
            <a:noFill/>
          </a:ln>
        </p:spPr>
        <p:txBody>
          <a:bodyPr spcFirstLastPara="1" vert="horz" wrap="square" lIns="91425" tIns="45700" rIns="91425" bIns="45700" rtlCol="0" anchor="t" anchorCtr="0">
            <a:noAutofit/>
          </a:bodyPr>
          <a:lstStyle/>
          <a:p>
            <a:pPr marL="342900" indent="-342900" algn="just">
              <a:lnSpc>
                <a:spcPct val="100000"/>
              </a:lnSpc>
              <a:spcBef>
                <a:spcPts val="0"/>
              </a:spcBef>
              <a:buClr>
                <a:srgbClr val="888888"/>
              </a:buClr>
              <a:buSzPts val="2400"/>
            </a:pPr>
            <a:r>
              <a:rPr lang="en-IN" dirty="0">
                <a:solidFill>
                  <a:schemeClr val="bg2">
                    <a:lumMod val="50000"/>
                  </a:schemeClr>
                </a:solidFill>
                <a:latin typeface="Calibri"/>
                <a:ea typeface="Calibri"/>
                <a:cs typeface="Calibri"/>
                <a:sym typeface="Calibri"/>
              </a:rPr>
              <a:t>Presented by : </a:t>
            </a:r>
            <a:r>
              <a:rPr lang="en-IN" dirty="0" err="1">
                <a:solidFill>
                  <a:schemeClr val="bg2">
                    <a:lumMod val="50000"/>
                  </a:schemeClr>
                </a:solidFill>
              </a:rPr>
              <a:t>Vedashree</a:t>
            </a:r>
            <a:r>
              <a:rPr lang="en-IN" dirty="0">
                <a:solidFill>
                  <a:schemeClr val="bg2">
                    <a:lumMod val="50000"/>
                  </a:schemeClr>
                </a:solidFill>
              </a:rPr>
              <a:t> </a:t>
            </a:r>
            <a:r>
              <a:rPr lang="en-IN" dirty="0" err="1">
                <a:solidFill>
                  <a:schemeClr val="bg2">
                    <a:lumMod val="50000"/>
                  </a:schemeClr>
                </a:solidFill>
              </a:rPr>
              <a:t>Bhandigare</a:t>
            </a:r>
            <a:r>
              <a:rPr lang="en-IN" dirty="0">
                <a:solidFill>
                  <a:schemeClr val="bg2">
                    <a:lumMod val="50000"/>
                  </a:schemeClr>
                </a:solidFill>
              </a:rPr>
              <a:t>(A166), Pranay Kumar(A149)</a:t>
            </a:r>
            <a:endParaRPr dirty="0">
              <a:solidFill>
                <a:schemeClr val="bg2">
                  <a:lumMod val="50000"/>
                </a:schemeClr>
              </a:solidFill>
            </a:endParaRPr>
          </a:p>
          <a:p>
            <a:pPr marL="342900" indent="-342900" algn="just">
              <a:lnSpc>
                <a:spcPct val="100000"/>
              </a:lnSpc>
              <a:spcBef>
                <a:spcPts val="0"/>
              </a:spcBef>
              <a:buClr>
                <a:srgbClr val="888888"/>
              </a:buClr>
              <a:buSzPts val="2400"/>
            </a:pPr>
            <a:r>
              <a:rPr lang="en-IN" dirty="0">
                <a:solidFill>
                  <a:schemeClr val="bg2">
                    <a:lumMod val="50000"/>
                  </a:schemeClr>
                </a:solidFill>
                <a:latin typeface="Calibri"/>
                <a:ea typeface="Calibri"/>
                <a:cs typeface="Calibri"/>
                <a:sym typeface="Calibri"/>
              </a:rPr>
              <a:t>Under the guidance of : Prof. </a:t>
            </a:r>
            <a:r>
              <a:rPr lang="en-IN" dirty="0">
                <a:solidFill>
                  <a:schemeClr val="bg2">
                    <a:lumMod val="50000"/>
                  </a:schemeClr>
                </a:solidFill>
              </a:rPr>
              <a:t>Pratiksha Patil </a:t>
            </a:r>
          </a:p>
          <a:p>
            <a:pPr marL="342900" indent="-342900" algn="just">
              <a:lnSpc>
                <a:spcPct val="100000"/>
              </a:lnSpc>
              <a:spcBef>
                <a:spcPts val="0"/>
              </a:spcBef>
              <a:buClr>
                <a:srgbClr val="888888"/>
              </a:buClr>
              <a:buSzPts val="2400"/>
            </a:pPr>
            <a:endParaRPr dirty="0"/>
          </a:p>
        </p:txBody>
      </p:sp>
    </p:spTree>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5"/>
          <p:cNvSpPr txBox="1">
            <a:spLocks noGrp="1"/>
          </p:cNvSpPr>
          <p:nvPr>
            <p:ph type="title"/>
          </p:nvPr>
        </p:nvSpPr>
        <p:spPr>
          <a:xfrm>
            <a:off x="2081561" y="1136309"/>
            <a:ext cx="8229600" cy="9144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1"/>
              </a:buClr>
              <a:buSzPts val="3600"/>
            </a:pPr>
            <a:r>
              <a:rPr lang="en-IN" sz="3600" b="1">
                <a:solidFill>
                  <a:schemeClr val="dk1"/>
                </a:solidFill>
                <a:latin typeface="Calibri"/>
                <a:ea typeface="Calibri"/>
                <a:cs typeface="Calibri"/>
                <a:sym typeface="Calibri"/>
              </a:rPr>
              <a:t>Roadmap</a:t>
            </a:r>
            <a:endParaRPr sz="3600" b="1">
              <a:solidFill>
                <a:schemeClr val="dk1"/>
              </a:solidFill>
              <a:latin typeface="Calibri"/>
              <a:ea typeface="Calibri"/>
              <a:cs typeface="Calibri"/>
              <a:sym typeface="Calibri"/>
            </a:endParaRPr>
          </a:p>
        </p:txBody>
      </p:sp>
      <p:sp>
        <p:nvSpPr>
          <p:cNvPr id="175" name="Google Shape;175;p15"/>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2</a:t>
            </a:fld>
            <a:endParaRPr sz="1050">
              <a:solidFill>
                <a:srgbClr val="888888"/>
              </a:solidFill>
              <a:latin typeface="Calibri"/>
              <a:ea typeface="Calibri"/>
              <a:cs typeface="Calibri"/>
              <a:sym typeface="Calibri"/>
            </a:endParaRPr>
          </a:p>
        </p:txBody>
      </p:sp>
      <p:sp>
        <p:nvSpPr>
          <p:cNvPr id="177" name="Google Shape;177;p15"/>
          <p:cNvSpPr txBox="1"/>
          <p:nvPr/>
        </p:nvSpPr>
        <p:spPr>
          <a:xfrm>
            <a:off x="2387319" y="1757681"/>
            <a:ext cx="6945586" cy="4278943"/>
          </a:xfrm>
          <a:prstGeom prst="rect">
            <a:avLst/>
          </a:prstGeom>
          <a:noFill/>
          <a:ln>
            <a:noFill/>
          </a:ln>
        </p:spPr>
        <p:txBody>
          <a:bodyPr spcFirstLastPara="1" wrap="square" lIns="91425" tIns="91425" rIns="91425" bIns="91425" anchor="t" anchorCtr="0">
            <a:noAutofit/>
          </a:bodyPr>
          <a:lstStyle/>
          <a:p>
            <a:pPr marL="457200" indent="-381000">
              <a:spcBef>
                <a:spcPts val="480"/>
              </a:spcBef>
              <a:buClr>
                <a:schemeClr val="dk1"/>
              </a:buClr>
              <a:buSzPts val="2400"/>
              <a:buFont typeface="Noto Sans Symbols"/>
              <a:buChar char="❑"/>
            </a:pPr>
            <a:r>
              <a:rPr lang="en-IN" sz="2400" dirty="0">
                <a:solidFill>
                  <a:schemeClr val="dk1"/>
                </a:solidFill>
                <a:latin typeface="Book Antiqua"/>
                <a:ea typeface="Book Antiqua"/>
                <a:cs typeface="Book Antiqua"/>
                <a:sym typeface="Book Antiqua"/>
              </a:rPr>
              <a:t>Introduction</a:t>
            </a:r>
            <a:endParaRPr sz="1400" dirty="0">
              <a:solidFill>
                <a:srgbClr val="000000"/>
              </a:solidFill>
              <a:latin typeface="Arial"/>
              <a:ea typeface="Arial"/>
              <a:cs typeface="Arial"/>
              <a:sym typeface="Arial"/>
            </a:endParaRPr>
          </a:p>
          <a:p>
            <a:pPr marL="457200" indent="-381000">
              <a:spcBef>
                <a:spcPts val="480"/>
              </a:spcBef>
              <a:buClr>
                <a:schemeClr val="dk1"/>
              </a:buClr>
              <a:buSzPts val="2400"/>
              <a:buFont typeface="Noto Sans Symbols"/>
              <a:buChar char="❑"/>
            </a:pPr>
            <a:r>
              <a:rPr lang="en-IN" sz="2400" dirty="0">
                <a:solidFill>
                  <a:schemeClr val="dk1"/>
                </a:solidFill>
                <a:latin typeface="Book Antiqua"/>
                <a:ea typeface="Book Antiqua"/>
                <a:cs typeface="Book Antiqua"/>
                <a:sym typeface="Book Antiqua"/>
              </a:rPr>
              <a:t>Problem definition</a:t>
            </a:r>
            <a:endParaRPr sz="1400" dirty="0">
              <a:solidFill>
                <a:srgbClr val="000000"/>
              </a:solidFill>
              <a:latin typeface="Arial"/>
              <a:ea typeface="Arial"/>
              <a:cs typeface="Arial"/>
              <a:sym typeface="Arial"/>
            </a:endParaRPr>
          </a:p>
          <a:p>
            <a:pPr marL="457200" indent="-381000">
              <a:spcBef>
                <a:spcPts val="480"/>
              </a:spcBef>
              <a:buClr>
                <a:schemeClr val="dk1"/>
              </a:buClr>
              <a:buSzPts val="2400"/>
              <a:buFont typeface="Noto Sans Symbols"/>
              <a:buChar char="❑"/>
            </a:pPr>
            <a:r>
              <a:rPr lang="en-IN" sz="2400" dirty="0">
                <a:solidFill>
                  <a:schemeClr val="dk1"/>
                </a:solidFill>
                <a:latin typeface="Book Antiqua"/>
                <a:ea typeface="Book Antiqua"/>
                <a:cs typeface="Book Antiqua"/>
                <a:sym typeface="Book Antiqua"/>
              </a:rPr>
              <a:t>Literature Review / Market Survey </a:t>
            </a:r>
            <a:endParaRPr sz="1400" dirty="0">
              <a:solidFill>
                <a:srgbClr val="000000"/>
              </a:solidFill>
              <a:latin typeface="Arial"/>
              <a:ea typeface="Arial"/>
              <a:cs typeface="Arial"/>
              <a:sym typeface="Arial"/>
            </a:endParaRPr>
          </a:p>
          <a:p>
            <a:pPr marL="457200" indent="-381000">
              <a:spcBef>
                <a:spcPts val="480"/>
              </a:spcBef>
              <a:buClr>
                <a:schemeClr val="dk1"/>
              </a:buClr>
              <a:buSzPts val="2400"/>
              <a:buFont typeface="Noto Sans Symbols"/>
              <a:buChar char="❑"/>
            </a:pPr>
            <a:r>
              <a:rPr lang="en-IN" sz="2400" dirty="0">
                <a:solidFill>
                  <a:schemeClr val="dk1"/>
                </a:solidFill>
                <a:latin typeface="Book Antiqua"/>
                <a:ea typeface="Book Antiqua"/>
                <a:cs typeface="Book Antiqua"/>
                <a:sym typeface="Book Antiqua"/>
              </a:rPr>
              <a:t>Proposed System</a:t>
            </a:r>
            <a:r>
              <a:rPr lang="en-IN" sz="1400" dirty="0">
                <a:solidFill>
                  <a:srgbClr val="000000"/>
                </a:solidFill>
                <a:latin typeface="Arial"/>
                <a:ea typeface="Arial"/>
                <a:cs typeface="Arial"/>
                <a:sym typeface="Arial"/>
              </a:rPr>
              <a:t>/ </a:t>
            </a:r>
            <a:r>
              <a:rPr lang="en-IN" sz="2400" dirty="0">
                <a:solidFill>
                  <a:schemeClr val="dk1"/>
                </a:solidFill>
                <a:latin typeface="Book Antiqua"/>
                <a:ea typeface="Book Antiqua"/>
                <a:cs typeface="Book Antiqua"/>
                <a:sym typeface="Book Antiqua"/>
              </a:rPr>
              <a:t>Algorithms /Architecture</a:t>
            </a:r>
            <a:endParaRPr sz="1400" dirty="0">
              <a:solidFill>
                <a:srgbClr val="000000"/>
              </a:solidFill>
              <a:latin typeface="Arial"/>
              <a:ea typeface="Arial"/>
              <a:cs typeface="Arial"/>
              <a:sym typeface="Arial"/>
            </a:endParaRPr>
          </a:p>
          <a:p>
            <a:pPr marL="457200" indent="-381000">
              <a:spcBef>
                <a:spcPts val="480"/>
              </a:spcBef>
              <a:buClr>
                <a:schemeClr val="dk1"/>
              </a:buClr>
              <a:buSzPts val="2400"/>
              <a:buFont typeface="Noto Sans Symbols"/>
              <a:buChar char="❑"/>
            </a:pPr>
            <a:r>
              <a:rPr lang="en-IN" sz="2400" dirty="0">
                <a:solidFill>
                  <a:schemeClr val="dk1"/>
                </a:solidFill>
                <a:latin typeface="Book Antiqua"/>
                <a:ea typeface="Book Antiqua"/>
                <a:cs typeface="Book Antiqua"/>
                <a:sym typeface="Book Antiqua"/>
              </a:rPr>
              <a:t>Design Diagrams</a:t>
            </a:r>
            <a:endParaRPr sz="1400" dirty="0">
              <a:solidFill>
                <a:srgbClr val="000000"/>
              </a:solidFill>
              <a:latin typeface="Arial"/>
              <a:ea typeface="Arial"/>
              <a:cs typeface="Arial"/>
              <a:sym typeface="Arial"/>
            </a:endParaRPr>
          </a:p>
          <a:p>
            <a:pPr marL="457200" indent="-381000">
              <a:spcBef>
                <a:spcPts val="480"/>
              </a:spcBef>
              <a:buClr>
                <a:schemeClr val="dk1"/>
              </a:buClr>
              <a:buSzPts val="2400"/>
              <a:buFont typeface="Noto Sans Symbols"/>
              <a:buChar char="❑"/>
            </a:pPr>
            <a:r>
              <a:rPr lang="en-IN" sz="2400" dirty="0">
                <a:solidFill>
                  <a:schemeClr val="dk1"/>
                </a:solidFill>
                <a:latin typeface="Book Antiqua"/>
                <a:ea typeface="Book Antiqua"/>
                <a:cs typeface="Book Antiqua"/>
                <a:sym typeface="Book Antiqua"/>
              </a:rPr>
              <a:t>Implementation and Result Discussion</a:t>
            </a:r>
            <a:endParaRPr sz="1400" dirty="0">
              <a:solidFill>
                <a:srgbClr val="000000"/>
              </a:solidFill>
              <a:latin typeface="Arial"/>
              <a:ea typeface="Arial"/>
              <a:cs typeface="Arial"/>
              <a:sym typeface="Arial"/>
            </a:endParaRPr>
          </a:p>
          <a:p>
            <a:pPr marL="457200" indent="-381000">
              <a:spcBef>
                <a:spcPts val="480"/>
              </a:spcBef>
              <a:buClr>
                <a:schemeClr val="dk1"/>
              </a:buClr>
              <a:buSzPts val="2400"/>
              <a:buFont typeface="Noto Sans Symbols"/>
              <a:buChar char="❑"/>
            </a:pPr>
            <a:r>
              <a:rPr lang="en-IN" sz="2400" dirty="0">
                <a:solidFill>
                  <a:schemeClr val="dk1"/>
                </a:solidFill>
                <a:latin typeface="Book Antiqua"/>
                <a:ea typeface="Book Antiqua"/>
                <a:cs typeface="Book Antiqua"/>
                <a:sym typeface="Book Antiqua"/>
              </a:rPr>
              <a:t>Conclusion and Future Work</a:t>
            </a:r>
            <a:endParaRPr sz="1400" dirty="0">
              <a:solidFill>
                <a:srgbClr val="000000"/>
              </a:solidFill>
              <a:latin typeface="Arial"/>
              <a:ea typeface="Arial"/>
              <a:cs typeface="Arial"/>
              <a:sym typeface="Arial"/>
            </a:endParaRPr>
          </a:p>
          <a:p>
            <a:pPr marL="457200" indent="-381000">
              <a:spcBef>
                <a:spcPts val="480"/>
              </a:spcBef>
              <a:buClr>
                <a:schemeClr val="dk1"/>
              </a:buClr>
              <a:buSzPts val="2400"/>
              <a:buFont typeface="Noto Sans Symbols"/>
              <a:buChar char="❑"/>
            </a:pPr>
            <a:r>
              <a:rPr lang="en-IN" sz="2400" dirty="0">
                <a:solidFill>
                  <a:schemeClr val="dk1"/>
                </a:solidFill>
                <a:latin typeface="Book Antiqua"/>
                <a:ea typeface="Book Antiqua"/>
                <a:cs typeface="Book Antiqua"/>
                <a:sym typeface="Book Antiqua"/>
              </a:rPr>
              <a:t>References</a:t>
            </a:r>
            <a:endParaRPr sz="2400" dirty="0">
              <a:solidFill>
                <a:schemeClr val="dk1"/>
              </a:solidFill>
              <a:latin typeface="Book Antiqua"/>
              <a:ea typeface="Book Antiqua"/>
              <a:cs typeface="Book Antiqua"/>
              <a:sym typeface="Book Antiqua"/>
            </a:endParaRPr>
          </a:p>
          <a:p>
            <a:pPr marL="457200" indent="-381000">
              <a:spcBef>
                <a:spcPts val="480"/>
              </a:spcBef>
              <a:buClr>
                <a:schemeClr val="dk1"/>
              </a:buClr>
              <a:buSzPts val="2400"/>
              <a:buFont typeface="Book Antiqua"/>
              <a:buChar char="❑"/>
            </a:pPr>
            <a:r>
              <a:rPr lang="en-IN" sz="2400" dirty="0">
                <a:solidFill>
                  <a:schemeClr val="dk1"/>
                </a:solidFill>
                <a:highlight>
                  <a:srgbClr val="FFFF00"/>
                </a:highlight>
                <a:latin typeface="Book Antiqua"/>
                <a:ea typeface="Book Antiqua"/>
                <a:cs typeface="Book Antiqua"/>
                <a:sym typeface="Book Antiqua"/>
              </a:rPr>
              <a:t>(Note: Max Slides: 15-18)</a:t>
            </a:r>
            <a:endParaRPr sz="2400" dirty="0">
              <a:solidFill>
                <a:schemeClr val="dk1"/>
              </a:solidFill>
              <a:latin typeface="Book Antiqua"/>
              <a:ea typeface="Book Antiqua"/>
              <a:cs typeface="Book Antiqua"/>
              <a:sym typeface="Book Antiqua"/>
            </a:endParaRPr>
          </a:p>
          <a:p>
            <a:pPr marL="457200" indent="-228600">
              <a:lnSpc>
                <a:spcPct val="200000"/>
              </a:lnSpc>
              <a:spcBef>
                <a:spcPts val="480"/>
              </a:spcBef>
              <a:buClr>
                <a:schemeClr val="dk1"/>
              </a:buClr>
              <a:buSzPts val="2400"/>
            </a:pPr>
            <a:endParaRPr sz="1600" dirty="0">
              <a:solidFill>
                <a:schemeClr val="dk1"/>
              </a:solidFill>
              <a:latin typeface="Calibri"/>
              <a:ea typeface="Calibri"/>
              <a:cs typeface="Calibri"/>
              <a:sym typeface="Calibri"/>
            </a:endParaRPr>
          </a:p>
          <a:p>
            <a:pPr marL="457200" indent="-228600">
              <a:lnSpc>
                <a:spcPct val="200000"/>
              </a:lnSpc>
              <a:spcBef>
                <a:spcPts val="480"/>
              </a:spcBef>
              <a:buClr>
                <a:schemeClr val="dk1"/>
              </a:buClr>
              <a:buSzPts val="2400"/>
            </a:pPr>
            <a:endParaRPr sz="1600" dirty="0">
              <a:solidFill>
                <a:schemeClr val="dk1"/>
              </a:solidFill>
              <a:latin typeface="Calibri"/>
              <a:ea typeface="Calibri"/>
              <a:cs typeface="Calibri"/>
              <a:sym typeface="Calibri"/>
            </a:endParaRPr>
          </a:p>
          <a:p>
            <a:pPr marL="457200" indent="-228600">
              <a:lnSpc>
                <a:spcPct val="200000"/>
              </a:lnSpc>
              <a:spcBef>
                <a:spcPts val="480"/>
              </a:spcBef>
              <a:buClr>
                <a:schemeClr val="dk1"/>
              </a:buClr>
              <a:buSzPts val="2400"/>
            </a:pPr>
            <a:endParaRPr sz="1600" dirty="0">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slow" p14:dur="2000" advClick="0">
        <p14:prism isContent="1"/>
      </p:transition>
    </mc:Choice>
    <mc:Fallback xmlns="">
      <p:transition spd="slow" advClick="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A843A7E6-2C45-901E-0FF3-55196FD0DC95}"/>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2AED6489-ADB7-58DB-6A9C-2D3BF3D5DD71}"/>
              </a:ext>
            </a:extLst>
          </p:cNvPr>
          <p:cNvSpPr txBox="1">
            <a:spLocks noGrp="1"/>
          </p:cNvSpPr>
          <p:nvPr>
            <p:ph type="title"/>
          </p:nvPr>
        </p:nvSpPr>
        <p:spPr>
          <a:xfrm>
            <a:off x="2057400" y="1524000"/>
            <a:ext cx="8229600" cy="914400"/>
          </a:xfrm>
          <a:prstGeom prst="rect">
            <a:avLst/>
          </a:prstGeom>
          <a:noFill/>
          <a:ln>
            <a:noFill/>
          </a:ln>
        </p:spPr>
        <p:txBody>
          <a:bodyPr spcFirstLastPara="1" vert="horz" wrap="square" lIns="91425" tIns="45700" rIns="91425" bIns="45700" rtlCol="0" anchor="ctr" anchorCtr="0">
            <a:noAutofit/>
          </a:bodyPr>
          <a:lstStyle/>
          <a:p>
            <a:pPr algn="ctr">
              <a:lnSpc>
                <a:spcPct val="100000"/>
              </a:lnSpc>
              <a:spcBef>
                <a:spcPts val="0"/>
              </a:spcBef>
              <a:buClr>
                <a:schemeClr val="dk1"/>
              </a:buClr>
              <a:buSzPts val="3600"/>
            </a:pPr>
            <a:r>
              <a:rPr lang="en-US" sz="3600" b="1" dirty="0"/>
              <a:t>The Challenge and Our Vision in Modern Education</a:t>
            </a:r>
            <a:br>
              <a:rPr lang="en-US" sz="3600" b="1" dirty="0"/>
            </a:br>
            <a:endParaRPr sz="3600" b="1" dirty="0">
              <a:solidFill>
                <a:schemeClr val="dk1"/>
              </a:solidFill>
              <a:latin typeface="Calibri"/>
              <a:ea typeface="Calibri"/>
              <a:cs typeface="Calibri"/>
              <a:sym typeface="Calibri"/>
            </a:endParaRPr>
          </a:p>
        </p:txBody>
      </p:sp>
      <p:sp>
        <p:nvSpPr>
          <p:cNvPr id="175" name="Google Shape;175;p15">
            <a:extLst>
              <a:ext uri="{FF2B5EF4-FFF2-40B4-BE49-F238E27FC236}">
                <a16:creationId xmlns:a16="http://schemas.microsoft.com/office/drawing/2014/main" id="{6D79C57E-3454-5C94-1CF6-E6E81787D771}"/>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20B6BEC6-70F4-9F53-5A5D-000A5E0242AF}"/>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3</a:t>
            </a:fld>
            <a:endParaRPr sz="1050">
              <a:solidFill>
                <a:srgbClr val="888888"/>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15F1D446-B87F-FA4E-1B50-98516B923BD5}"/>
              </a:ext>
            </a:extLst>
          </p:cNvPr>
          <p:cNvPicPr>
            <a:picLocks noChangeAspect="1"/>
          </p:cNvPicPr>
          <p:nvPr/>
        </p:nvPicPr>
        <p:blipFill>
          <a:blip r:embed="rId3"/>
          <a:stretch>
            <a:fillRect/>
          </a:stretch>
        </p:blipFill>
        <p:spPr>
          <a:xfrm>
            <a:off x="2418560" y="2295976"/>
            <a:ext cx="5658640" cy="3810532"/>
          </a:xfrm>
          <a:prstGeom prst="rect">
            <a:avLst/>
          </a:prstGeom>
        </p:spPr>
      </p:pic>
    </p:spTree>
    <p:extLst>
      <p:ext uri="{BB962C8B-B14F-4D97-AF65-F5344CB8AC3E}">
        <p14:creationId xmlns:p14="http://schemas.microsoft.com/office/powerpoint/2010/main" val="339071445"/>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8A51D143-72CE-CFF2-A545-09661D882F3F}"/>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C6369AF6-AF87-7C6B-85CB-8039F88CF146}"/>
              </a:ext>
            </a:extLst>
          </p:cNvPr>
          <p:cNvSpPr txBox="1">
            <a:spLocks noGrp="1"/>
          </p:cNvSpPr>
          <p:nvPr>
            <p:ph type="title"/>
          </p:nvPr>
        </p:nvSpPr>
        <p:spPr>
          <a:xfrm>
            <a:off x="2057400" y="1524000"/>
            <a:ext cx="8229600" cy="914400"/>
          </a:xfrm>
          <a:prstGeom prst="rect">
            <a:avLst/>
          </a:prstGeom>
          <a:noFill/>
          <a:ln>
            <a:noFill/>
          </a:ln>
        </p:spPr>
        <p:txBody>
          <a:bodyPr spcFirstLastPara="1" vert="horz" wrap="square" lIns="91425" tIns="45700" rIns="91425" bIns="45700" rtlCol="0" anchor="ctr" anchorCtr="0">
            <a:noAutofit/>
          </a:bodyPr>
          <a:lstStyle/>
          <a:p>
            <a:pPr algn="ctr"/>
            <a:r>
              <a:rPr lang="en-IN" sz="3600" b="1" dirty="0"/>
              <a:t>Identifying the Research Gap</a:t>
            </a:r>
          </a:p>
        </p:txBody>
      </p:sp>
      <p:sp>
        <p:nvSpPr>
          <p:cNvPr id="175" name="Google Shape;175;p15">
            <a:extLst>
              <a:ext uri="{FF2B5EF4-FFF2-40B4-BE49-F238E27FC236}">
                <a16:creationId xmlns:a16="http://schemas.microsoft.com/office/drawing/2014/main" id="{306D5D7E-F812-4945-0688-31AE4A6AB031}"/>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3144F8D0-6F1D-C152-757A-5830EDDFBAC9}"/>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4</a:t>
            </a:fld>
            <a:endParaRPr sz="1050">
              <a:solidFill>
                <a:srgbClr val="888888"/>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EAA30C7B-0F9C-54D6-2DEE-0C40BF07FF43}"/>
              </a:ext>
            </a:extLst>
          </p:cNvPr>
          <p:cNvPicPr>
            <a:picLocks noChangeAspect="1"/>
          </p:cNvPicPr>
          <p:nvPr/>
        </p:nvPicPr>
        <p:blipFill>
          <a:blip r:embed="rId3"/>
          <a:stretch>
            <a:fillRect/>
          </a:stretch>
        </p:blipFill>
        <p:spPr>
          <a:xfrm>
            <a:off x="1143000" y="2590800"/>
            <a:ext cx="9640645" cy="3419952"/>
          </a:xfrm>
          <a:prstGeom prst="rect">
            <a:avLst/>
          </a:prstGeom>
        </p:spPr>
      </p:pic>
    </p:spTree>
    <p:extLst>
      <p:ext uri="{BB962C8B-B14F-4D97-AF65-F5344CB8AC3E}">
        <p14:creationId xmlns:p14="http://schemas.microsoft.com/office/powerpoint/2010/main" val="3404890790"/>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F5EE00C2-5A38-E9B1-FDC8-A3107487F534}"/>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2AC65DC2-3997-8DDB-9C74-96E0018B9DE1}"/>
              </a:ext>
            </a:extLst>
          </p:cNvPr>
          <p:cNvSpPr txBox="1">
            <a:spLocks noGrp="1"/>
          </p:cNvSpPr>
          <p:nvPr>
            <p:ph type="title"/>
          </p:nvPr>
        </p:nvSpPr>
        <p:spPr>
          <a:xfrm>
            <a:off x="2057400" y="1219200"/>
            <a:ext cx="8229600" cy="914400"/>
          </a:xfrm>
          <a:prstGeom prst="rect">
            <a:avLst/>
          </a:prstGeom>
          <a:noFill/>
          <a:ln>
            <a:noFill/>
          </a:ln>
        </p:spPr>
        <p:txBody>
          <a:bodyPr spcFirstLastPara="1" vert="horz" wrap="square" lIns="91425" tIns="45700" rIns="91425" bIns="45700" rtlCol="0" anchor="ctr" anchorCtr="0">
            <a:noAutofit/>
          </a:bodyPr>
          <a:lstStyle/>
          <a:p>
            <a:r>
              <a:rPr lang="en-IN" sz="3600" b="1" dirty="0"/>
              <a:t>Building on Research Foundations</a:t>
            </a:r>
          </a:p>
        </p:txBody>
      </p:sp>
      <p:sp>
        <p:nvSpPr>
          <p:cNvPr id="175" name="Google Shape;175;p15">
            <a:extLst>
              <a:ext uri="{FF2B5EF4-FFF2-40B4-BE49-F238E27FC236}">
                <a16:creationId xmlns:a16="http://schemas.microsoft.com/office/drawing/2014/main" id="{C9C28CA6-47BE-641B-3058-4193AB19788D}"/>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576B5F87-5C84-6021-4CE3-6620765A2BA3}"/>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5</a:t>
            </a:fld>
            <a:endParaRPr sz="1050">
              <a:solidFill>
                <a:srgbClr val="888888"/>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BBE34FFA-2966-DA00-EF0B-91154DA5B604}"/>
              </a:ext>
            </a:extLst>
          </p:cNvPr>
          <p:cNvPicPr>
            <a:picLocks noChangeAspect="1"/>
          </p:cNvPicPr>
          <p:nvPr/>
        </p:nvPicPr>
        <p:blipFill>
          <a:blip r:embed="rId3"/>
          <a:stretch>
            <a:fillRect/>
          </a:stretch>
        </p:blipFill>
        <p:spPr>
          <a:xfrm>
            <a:off x="1261377" y="1934277"/>
            <a:ext cx="9821646" cy="4439270"/>
          </a:xfrm>
          <a:prstGeom prst="rect">
            <a:avLst/>
          </a:prstGeom>
        </p:spPr>
      </p:pic>
    </p:spTree>
    <p:extLst>
      <p:ext uri="{BB962C8B-B14F-4D97-AF65-F5344CB8AC3E}">
        <p14:creationId xmlns:p14="http://schemas.microsoft.com/office/powerpoint/2010/main" val="2661700916"/>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5ACFDBE8-8A82-B5F2-4A47-C8D7E8FF7F62}"/>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3400ABD0-74EF-79D8-84F7-53A57CCB6702}"/>
              </a:ext>
            </a:extLst>
          </p:cNvPr>
          <p:cNvSpPr txBox="1">
            <a:spLocks noGrp="1"/>
          </p:cNvSpPr>
          <p:nvPr>
            <p:ph type="title"/>
          </p:nvPr>
        </p:nvSpPr>
        <p:spPr>
          <a:xfrm>
            <a:off x="3985260" y="3149055"/>
            <a:ext cx="2895600" cy="914400"/>
          </a:xfrm>
          <a:prstGeom prst="rect">
            <a:avLst/>
          </a:prstGeom>
          <a:noFill/>
          <a:ln>
            <a:noFill/>
          </a:ln>
        </p:spPr>
        <p:txBody>
          <a:bodyPr spcFirstLastPara="1" vert="horz" wrap="square" lIns="91425" tIns="45700" rIns="91425" bIns="45700" rtlCol="0" anchor="ctr" anchorCtr="0">
            <a:noAutofit/>
          </a:bodyPr>
          <a:lstStyle/>
          <a:p>
            <a:pPr algn="ctr"/>
            <a:r>
              <a:rPr lang="en-IN" sz="3600" b="1" dirty="0"/>
              <a:t>Building on Three-Stage System Architecture</a:t>
            </a:r>
            <a:br>
              <a:rPr lang="en-IN" sz="3600" b="1" dirty="0"/>
            </a:br>
            <a:r>
              <a:rPr lang="en-IN" sz="3600" b="1" dirty="0"/>
              <a:t> Foundations</a:t>
            </a:r>
          </a:p>
        </p:txBody>
      </p:sp>
      <p:sp>
        <p:nvSpPr>
          <p:cNvPr id="175" name="Google Shape;175;p15">
            <a:extLst>
              <a:ext uri="{FF2B5EF4-FFF2-40B4-BE49-F238E27FC236}">
                <a16:creationId xmlns:a16="http://schemas.microsoft.com/office/drawing/2014/main" id="{FEE9A1DA-5EA4-53EB-E01B-998BFDD7BD7C}"/>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5E68A23C-E4FA-9022-D748-5B2CA39F849E}"/>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6</a:t>
            </a:fld>
            <a:endParaRPr sz="1050">
              <a:solidFill>
                <a:srgbClr val="888888"/>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712B81ED-592B-A694-7C9E-F922AE013AF4}"/>
              </a:ext>
            </a:extLst>
          </p:cNvPr>
          <p:cNvPicPr>
            <a:picLocks noChangeAspect="1"/>
          </p:cNvPicPr>
          <p:nvPr/>
        </p:nvPicPr>
        <p:blipFill>
          <a:blip r:embed="rId3"/>
          <a:stretch>
            <a:fillRect/>
          </a:stretch>
        </p:blipFill>
        <p:spPr>
          <a:xfrm>
            <a:off x="6896100" y="1676400"/>
            <a:ext cx="4495800" cy="4774110"/>
          </a:xfrm>
          <a:prstGeom prst="rect">
            <a:avLst/>
          </a:prstGeom>
        </p:spPr>
      </p:pic>
      <p:pic>
        <p:nvPicPr>
          <p:cNvPr id="6" name="Picture 5">
            <a:extLst>
              <a:ext uri="{FF2B5EF4-FFF2-40B4-BE49-F238E27FC236}">
                <a16:creationId xmlns:a16="http://schemas.microsoft.com/office/drawing/2014/main" id="{D53A3169-0B4F-67BB-5D14-7B091EB419F6}"/>
              </a:ext>
            </a:extLst>
          </p:cNvPr>
          <p:cNvPicPr>
            <a:picLocks noChangeAspect="1"/>
          </p:cNvPicPr>
          <p:nvPr/>
        </p:nvPicPr>
        <p:blipFill>
          <a:blip r:embed="rId4"/>
          <a:stretch>
            <a:fillRect/>
          </a:stretch>
        </p:blipFill>
        <p:spPr>
          <a:xfrm>
            <a:off x="381000" y="1231490"/>
            <a:ext cx="3200400" cy="5510464"/>
          </a:xfrm>
          <a:prstGeom prst="rect">
            <a:avLst/>
          </a:prstGeom>
        </p:spPr>
      </p:pic>
    </p:spTree>
    <p:extLst>
      <p:ext uri="{BB962C8B-B14F-4D97-AF65-F5344CB8AC3E}">
        <p14:creationId xmlns:p14="http://schemas.microsoft.com/office/powerpoint/2010/main" val="3008508833"/>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1F651F32-75E3-FEB5-671D-D0200F1D5C10}"/>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4B73984A-944B-55A1-2130-EBB1BB6D7C45}"/>
              </a:ext>
            </a:extLst>
          </p:cNvPr>
          <p:cNvSpPr txBox="1">
            <a:spLocks noGrp="1"/>
          </p:cNvSpPr>
          <p:nvPr>
            <p:ph type="title"/>
          </p:nvPr>
        </p:nvSpPr>
        <p:spPr>
          <a:xfrm>
            <a:off x="2057400" y="1219200"/>
            <a:ext cx="8229600" cy="914400"/>
          </a:xfrm>
          <a:prstGeom prst="rect">
            <a:avLst/>
          </a:prstGeom>
          <a:noFill/>
          <a:ln>
            <a:noFill/>
          </a:ln>
        </p:spPr>
        <p:txBody>
          <a:bodyPr spcFirstLastPara="1" vert="horz" wrap="square" lIns="91425" tIns="45700" rIns="91425" bIns="45700" rtlCol="0" anchor="ctr" anchorCtr="0">
            <a:noAutofit/>
          </a:bodyPr>
          <a:lstStyle/>
          <a:p>
            <a:r>
              <a:rPr lang="en-IN" sz="3600" b="1" dirty="0"/>
              <a:t>Multimodal Behavioural Indicators</a:t>
            </a:r>
          </a:p>
        </p:txBody>
      </p:sp>
      <p:sp>
        <p:nvSpPr>
          <p:cNvPr id="175" name="Google Shape;175;p15">
            <a:extLst>
              <a:ext uri="{FF2B5EF4-FFF2-40B4-BE49-F238E27FC236}">
                <a16:creationId xmlns:a16="http://schemas.microsoft.com/office/drawing/2014/main" id="{C9BB7730-4AF3-8C6F-1BB5-2B594497EC45}"/>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F205491D-570A-EE6D-A2A6-A2DC2843CDDF}"/>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7</a:t>
            </a:fld>
            <a:endParaRPr sz="1050">
              <a:solidFill>
                <a:srgbClr val="888888"/>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1F25C5E3-B6BC-7AF5-832A-29AEB9F298D8}"/>
              </a:ext>
            </a:extLst>
          </p:cNvPr>
          <p:cNvPicPr>
            <a:picLocks noChangeAspect="1"/>
          </p:cNvPicPr>
          <p:nvPr/>
        </p:nvPicPr>
        <p:blipFill>
          <a:blip r:embed="rId3"/>
          <a:stretch>
            <a:fillRect/>
          </a:stretch>
        </p:blipFill>
        <p:spPr>
          <a:xfrm>
            <a:off x="1509252" y="1981200"/>
            <a:ext cx="8686800" cy="4272409"/>
          </a:xfrm>
          <a:prstGeom prst="rect">
            <a:avLst/>
          </a:prstGeom>
        </p:spPr>
      </p:pic>
    </p:spTree>
    <p:extLst>
      <p:ext uri="{BB962C8B-B14F-4D97-AF65-F5344CB8AC3E}">
        <p14:creationId xmlns:p14="http://schemas.microsoft.com/office/powerpoint/2010/main" val="1997199123"/>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42451788-B922-C26A-EC25-5C8B2356A196}"/>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014F6AF1-67A2-B219-CECB-A85C6B7B3E99}"/>
              </a:ext>
            </a:extLst>
          </p:cNvPr>
          <p:cNvSpPr txBox="1">
            <a:spLocks noGrp="1"/>
          </p:cNvSpPr>
          <p:nvPr>
            <p:ph type="title"/>
          </p:nvPr>
        </p:nvSpPr>
        <p:spPr>
          <a:xfrm>
            <a:off x="2057400" y="1219200"/>
            <a:ext cx="8229600" cy="914400"/>
          </a:xfrm>
          <a:prstGeom prst="rect">
            <a:avLst/>
          </a:prstGeom>
          <a:noFill/>
          <a:ln>
            <a:noFill/>
          </a:ln>
        </p:spPr>
        <p:txBody>
          <a:bodyPr spcFirstLastPara="1" vert="horz" wrap="square" lIns="91425" tIns="45700" rIns="91425" bIns="45700" rtlCol="0" anchor="ctr" anchorCtr="0">
            <a:noAutofit/>
          </a:bodyPr>
          <a:lstStyle/>
          <a:p>
            <a:endParaRPr lang="en-IN" sz="3600" b="1" dirty="0"/>
          </a:p>
        </p:txBody>
      </p:sp>
      <p:sp>
        <p:nvSpPr>
          <p:cNvPr id="175" name="Google Shape;175;p15">
            <a:extLst>
              <a:ext uri="{FF2B5EF4-FFF2-40B4-BE49-F238E27FC236}">
                <a16:creationId xmlns:a16="http://schemas.microsoft.com/office/drawing/2014/main" id="{48BCF3B5-F0EF-933D-8164-57609EE484F4}"/>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28440FC2-A8E1-8F71-C8F6-64F88809F9BF}"/>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8</a:t>
            </a:fld>
            <a:endParaRPr sz="1050">
              <a:solidFill>
                <a:srgbClr val="888888"/>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8B1CFF17-645D-9464-0DF4-60D70958C905}"/>
              </a:ext>
            </a:extLst>
          </p:cNvPr>
          <p:cNvPicPr>
            <a:picLocks noChangeAspect="1"/>
          </p:cNvPicPr>
          <p:nvPr/>
        </p:nvPicPr>
        <p:blipFill>
          <a:blip r:embed="rId3"/>
          <a:stretch>
            <a:fillRect/>
          </a:stretch>
        </p:blipFill>
        <p:spPr>
          <a:xfrm>
            <a:off x="1874520" y="1219200"/>
            <a:ext cx="8763000" cy="5009444"/>
          </a:xfrm>
          <a:prstGeom prst="rect">
            <a:avLst/>
          </a:prstGeom>
        </p:spPr>
      </p:pic>
      <p:pic>
        <p:nvPicPr>
          <p:cNvPr id="8" name="Picture 7">
            <a:extLst>
              <a:ext uri="{FF2B5EF4-FFF2-40B4-BE49-F238E27FC236}">
                <a16:creationId xmlns:a16="http://schemas.microsoft.com/office/drawing/2014/main" id="{0887C78C-7AED-1AA0-3C34-BC8BB93FD3EB}"/>
              </a:ext>
            </a:extLst>
          </p:cNvPr>
          <p:cNvPicPr>
            <a:picLocks noChangeAspect="1"/>
          </p:cNvPicPr>
          <p:nvPr/>
        </p:nvPicPr>
        <p:blipFill>
          <a:blip r:embed="rId4"/>
          <a:stretch>
            <a:fillRect/>
          </a:stretch>
        </p:blipFill>
        <p:spPr>
          <a:xfrm>
            <a:off x="1371600" y="1348864"/>
            <a:ext cx="3692764" cy="914399"/>
          </a:xfrm>
          <a:prstGeom prst="rect">
            <a:avLst/>
          </a:prstGeom>
        </p:spPr>
      </p:pic>
      <p:pic>
        <p:nvPicPr>
          <p:cNvPr id="10" name="Picture 9">
            <a:extLst>
              <a:ext uri="{FF2B5EF4-FFF2-40B4-BE49-F238E27FC236}">
                <a16:creationId xmlns:a16="http://schemas.microsoft.com/office/drawing/2014/main" id="{05BEEBB5-BA3D-F95B-63D3-3A748C9472CB}"/>
              </a:ext>
            </a:extLst>
          </p:cNvPr>
          <p:cNvPicPr>
            <a:picLocks noChangeAspect="1"/>
          </p:cNvPicPr>
          <p:nvPr/>
        </p:nvPicPr>
        <p:blipFill>
          <a:blip r:embed="rId5"/>
          <a:stretch>
            <a:fillRect/>
          </a:stretch>
        </p:blipFill>
        <p:spPr>
          <a:xfrm>
            <a:off x="361750" y="5638800"/>
            <a:ext cx="3345362" cy="914399"/>
          </a:xfrm>
          <a:prstGeom prst="rect">
            <a:avLst/>
          </a:prstGeom>
        </p:spPr>
      </p:pic>
      <p:sp>
        <p:nvSpPr>
          <p:cNvPr id="12" name="TextBox 11">
            <a:extLst>
              <a:ext uri="{FF2B5EF4-FFF2-40B4-BE49-F238E27FC236}">
                <a16:creationId xmlns:a16="http://schemas.microsoft.com/office/drawing/2014/main" id="{034E5358-0754-353A-8AD4-232B348C1C9F}"/>
              </a:ext>
            </a:extLst>
          </p:cNvPr>
          <p:cNvSpPr txBox="1"/>
          <p:nvPr/>
        </p:nvSpPr>
        <p:spPr>
          <a:xfrm>
            <a:off x="6477000" y="2286246"/>
            <a:ext cx="1821180" cy="830997"/>
          </a:xfrm>
          <a:prstGeom prst="rect">
            <a:avLst/>
          </a:prstGeom>
          <a:noFill/>
        </p:spPr>
        <p:txBody>
          <a:bodyPr wrap="square">
            <a:spAutoFit/>
          </a:bodyPr>
          <a:lstStyle/>
          <a:p>
            <a:pPr>
              <a:buNone/>
            </a:pPr>
            <a:r>
              <a:rPr lang="en-IN" sz="1200" b="1" dirty="0"/>
              <a:t>Score = 100 + 0.5×Tfocus - 5×Ndistraction - 3×Nyawn - </a:t>
            </a:r>
            <a:r>
              <a:rPr lang="en-IN" sz="1200" b="1" dirty="0" err="1"/>
              <a:t>Nnod</a:t>
            </a:r>
            <a:r>
              <a:rPr lang="en-IN" sz="1200" b="1" dirty="0"/>
              <a:t> - 2×Tdrowsy</a:t>
            </a:r>
          </a:p>
        </p:txBody>
      </p:sp>
    </p:spTree>
    <p:extLst>
      <p:ext uri="{BB962C8B-B14F-4D97-AF65-F5344CB8AC3E}">
        <p14:creationId xmlns:p14="http://schemas.microsoft.com/office/powerpoint/2010/main" val="901976940"/>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DD78DE13-CB4A-A3DF-F272-EC300A6F5445}"/>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D6483FFF-D629-22B6-C1A4-ECDFAB585EAE}"/>
              </a:ext>
            </a:extLst>
          </p:cNvPr>
          <p:cNvSpPr txBox="1">
            <a:spLocks noGrp="1"/>
          </p:cNvSpPr>
          <p:nvPr>
            <p:ph type="title"/>
          </p:nvPr>
        </p:nvSpPr>
        <p:spPr>
          <a:xfrm>
            <a:off x="2057400" y="1219200"/>
            <a:ext cx="8229600" cy="914400"/>
          </a:xfrm>
          <a:prstGeom prst="rect">
            <a:avLst/>
          </a:prstGeom>
          <a:noFill/>
          <a:ln>
            <a:noFill/>
          </a:ln>
        </p:spPr>
        <p:txBody>
          <a:bodyPr spcFirstLastPara="1" vert="horz" wrap="square" lIns="91425" tIns="45700" rIns="91425" bIns="45700" rtlCol="0" anchor="ctr" anchorCtr="0">
            <a:noAutofit/>
          </a:bodyPr>
          <a:lstStyle/>
          <a:p>
            <a:r>
              <a:rPr lang="en-IN" sz="3600" b="1" dirty="0"/>
              <a:t>Multi-Modal Document Processing</a:t>
            </a:r>
          </a:p>
        </p:txBody>
      </p:sp>
      <p:sp>
        <p:nvSpPr>
          <p:cNvPr id="175" name="Google Shape;175;p15">
            <a:extLst>
              <a:ext uri="{FF2B5EF4-FFF2-40B4-BE49-F238E27FC236}">
                <a16:creationId xmlns:a16="http://schemas.microsoft.com/office/drawing/2014/main" id="{0C51D6A7-A1E2-FF1D-99B4-90E7F00B36D0}"/>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F9B22123-5AEA-F8F0-C957-2438E4F3EB85}"/>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9</a:t>
            </a:fld>
            <a:endParaRPr sz="1050">
              <a:solidFill>
                <a:srgbClr val="888888"/>
              </a:solidFill>
              <a:latin typeface="Calibri"/>
              <a:ea typeface="Calibri"/>
              <a:cs typeface="Calibri"/>
              <a:sym typeface="Calibri"/>
            </a:endParaRPr>
          </a:p>
        </p:txBody>
      </p:sp>
      <p:pic>
        <p:nvPicPr>
          <p:cNvPr id="6" name="Picture 5">
            <a:extLst>
              <a:ext uri="{FF2B5EF4-FFF2-40B4-BE49-F238E27FC236}">
                <a16:creationId xmlns:a16="http://schemas.microsoft.com/office/drawing/2014/main" id="{88ED128B-C052-58D8-95BE-6EF513803B7C}"/>
              </a:ext>
            </a:extLst>
          </p:cNvPr>
          <p:cNvPicPr>
            <a:picLocks noChangeAspect="1"/>
          </p:cNvPicPr>
          <p:nvPr/>
        </p:nvPicPr>
        <p:blipFill>
          <a:blip r:embed="rId3"/>
          <a:stretch>
            <a:fillRect/>
          </a:stretch>
        </p:blipFill>
        <p:spPr>
          <a:xfrm>
            <a:off x="533400" y="2133600"/>
            <a:ext cx="6001588" cy="3667637"/>
          </a:xfrm>
          <a:prstGeom prst="rect">
            <a:avLst/>
          </a:prstGeom>
        </p:spPr>
      </p:pic>
      <p:pic>
        <p:nvPicPr>
          <p:cNvPr id="8" name="Picture 7">
            <a:extLst>
              <a:ext uri="{FF2B5EF4-FFF2-40B4-BE49-F238E27FC236}">
                <a16:creationId xmlns:a16="http://schemas.microsoft.com/office/drawing/2014/main" id="{2A190275-D779-7C49-56E9-BBC4C60DAC1D}"/>
              </a:ext>
            </a:extLst>
          </p:cNvPr>
          <p:cNvPicPr>
            <a:picLocks noChangeAspect="1"/>
          </p:cNvPicPr>
          <p:nvPr/>
        </p:nvPicPr>
        <p:blipFill>
          <a:blip r:embed="rId4"/>
          <a:stretch>
            <a:fillRect/>
          </a:stretch>
        </p:blipFill>
        <p:spPr>
          <a:xfrm>
            <a:off x="6534988" y="2133599"/>
            <a:ext cx="5408466" cy="3698117"/>
          </a:xfrm>
          <a:prstGeom prst="rect">
            <a:avLst/>
          </a:prstGeom>
        </p:spPr>
      </p:pic>
    </p:spTree>
    <p:extLst>
      <p:ext uri="{BB962C8B-B14F-4D97-AF65-F5344CB8AC3E}">
        <p14:creationId xmlns:p14="http://schemas.microsoft.com/office/powerpoint/2010/main" val="4000549968"/>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7690B625-31F2-B713-2952-39071989804F}"/>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25334D48-6A96-711C-ED8C-E0B1A540766D}"/>
              </a:ext>
            </a:extLst>
          </p:cNvPr>
          <p:cNvSpPr txBox="1">
            <a:spLocks noGrp="1"/>
          </p:cNvSpPr>
          <p:nvPr>
            <p:ph type="title"/>
          </p:nvPr>
        </p:nvSpPr>
        <p:spPr>
          <a:xfrm>
            <a:off x="2057400" y="1219200"/>
            <a:ext cx="8229600" cy="914400"/>
          </a:xfrm>
          <a:prstGeom prst="rect">
            <a:avLst/>
          </a:prstGeom>
          <a:noFill/>
          <a:ln>
            <a:noFill/>
          </a:ln>
        </p:spPr>
        <p:txBody>
          <a:bodyPr spcFirstLastPara="1" vert="horz" wrap="square" lIns="91425" tIns="45700" rIns="91425" bIns="45700" rtlCol="0" anchor="ctr" anchorCtr="0">
            <a:noAutofit/>
          </a:bodyPr>
          <a:lstStyle/>
          <a:p>
            <a:r>
              <a:rPr lang="en-IN" sz="3600" b="1" dirty="0"/>
              <a:t>Multi-Modal Document Processing</a:t>
            </a:r>
          </a:p>
        </p:txBody>
      </p:sp>
      <p:sp>
        <p:nvSpPr>
          <p:cNvPr id="175" name="Google Shape;175;p15">
            <a:extLst>
              <a:ext uri="{FF2B5EF4-FFF2-40B4-BE49-F238E27FC236}">
                <a16:creationId xmlns:a16="http://schemas.microsoft.com/office/drawing/2014/main" id="{F849ABA4-EDE8-9FF0-0631-F7A57DCDF5A6}"/>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30F4A86F-B9A3-50C7-596A-88C6680118C3}"/>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10</a:t>
            </a:fld>
            <a:endParaRPr sz="1050">
              <a:solidFill>
                <a:srgbClr val="888888"/>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B9821E34-87BF-B9DD-A745-DFEAA55EE4B1}"/>
              </a:ext>
            </a:extLst>
          </p:cNvPr>
          <p:cNvPicPr>
            <a:picLocks noChangeAspect="1"/>
          </p:cNvPicPr>
          <p:nvPr/>
        </p:nvPicPr>
        <p:blipFill>
          <a:blip r:embed="rId3"/>
          <a:stretch>
            <a:fillRect/>
          </a:stretch>
        </p:blipFill>
        <p:spPr>
          <a:xfrm>
            <a:off x="381000" y="1454825"/>
            <a:ext cx="9532071" cy="4888242"/>
          </a:xfrm>
          <a:prstGeom prst="rect">
            <a:avLst/>
          </a:prstGeom>
        </p:spPr>
      </p:pic>
    </p:spTree>
    <p:extLst>
      <p:ext uri="{BB962C8B-B14F-4D97-AF65-F5344CB8AC3E}">
        <p14:creationId xmlns:p14="http://schemas.microsoft.com/office/powerpoint/2010/main" val="1590837103"/>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89143CAD-20BC-2001-0DAB-B56334A9519A}"/>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EEEFC7FD-8EE6-C609-CB53-610911C97F48}"/>
              </a:ext>
            </a:extLst>
          </p:cNvPr>
          <p:cNvSpPr txBox="1">
            <a:spLocks noGrp="1"/>
          </p:cNvSpPr>
          <p:nvPr>
            <p:ph type="title"/>
          </p:nvPr>
        </p:nvSpPr>
        <p:spPr>
          <a:xfrm>
            <a:off x="378865" y="1215835"/>
            <a:ext cx="8229600" cy="914400"/>
          </a:xfrm>
          <a:prstGeom prst="rect">
            <a:avLst/>
          </a:prstGeom>
          <a:noFill/>
          <a:ln>
            <a:noFill/>
          </a:ln>
        </p:spPr>
        <p:txBody>
          <a:bodyPr spcFirstLastPara="1" vert="horz" wrap="square" lIns="91425" tIns="45700" rIns="91425" bIns="45700" rtlCol="0" anchor="ctr" anchorCtr="0">
            <a:noAutofit/>
          </a:bodyPr>
          <a:lstStyle/>
          <a:p>
            <a:r>
              <a:rPr lang="en-IN" sz="3600" b="1" dirty="0"/>
              <a:t>Tech Stack &amp; Performance</a:t>
            </a:r>
          </a:p>
        </p:txBody>
      </p:sp>
      <p:sp>
        <p:nvSpPr>
          <p:cNvPr id="175" name="Google Shape;175;p15">
            <a:extLst>
              <a:ext uri="{FF2B5EF4-FFF2-40B4-BE49-F238E27FC236}">
                <a16:creationId xmlns:a16="http://schemas.microsoft.com/office/drawing/2014/main" id="{ABDACB9F-99C1-7732-3E1E-8B091CAA25FE}"/>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706713E7-DDDE-A5BA-85E4-FD3CB344F3D4}"/>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11</a:t>
            </a:fld>
            <a:endParaRPr sz="1050">
              <a:solidFill>
                <a:srgbClr val="888888"/>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D4348D15-A44B-D993-155E-2CC6476E2C8F}"/>
              </a:ext>
            </a:extLst>
          </p:cNvPr>
          <p:cNvPicPr>
            <a:picLocks noChangeAspect="1"/>
          </p:cNvPicPr>
          <p:nvPr/>
        </p:nvPicPr>
        <p:blipFill>
          <a:blip r:embed="rId3"/>
          <a:stretch>
            <a:fillRect/>
          </a:stretch>
        </p:blipFill>
        <p:spPr>
          <a:xfrm>
            <a:off x="390946" y="2171312"/>
            <a:ext cx="3296110" cy="1409897"/>
          </a:xfrm>
          <a:prstGeom prst="rect">
            <a:avLst/>
          </a:prstGeom>
        </p:spPr>
      </p:pic>
      <p:pic>
        <p:nvPicPr>
          <p:cNvPr id="6" name="Picture 5">
            <a:extLst>
              <a:ext uri="{FF2B5EF4-FFF2-40B4-BE49-F238E27FC236}">
                <a16:creationId xmlns:a16="http://schemas.microsoft.com/office/drawing/2014/main" id="{BEAC02B1-B2CD-DB05-E68A-B5771E8DC25B}"/>
              </a:ext>
            </a:extLst>
          </p:cNvPr>
          <p:cNvPicPr>
            <a:picLocks noChangeAspect="1"/>
          </p:cNvPicPr>
          <p:nvPr/>
        </p:nvPicPr>
        <p:blipFill>
          <a:blip r:embed="rId4"/>
          <a:stretch>
            <a:fillRect/>
          </a:stretch>
        </p:blipFill>
        <p:spPr>
          <a:xfrm>
            <a:off x="3733382" y="2772479"/>
            <a:ext cx="3238952" cy="1152686"/>
          </a:xfrm>
          <a:prstGeom prst="rect">
            <a:avLst/>
          </a:prstGeom>
        </p:spPr>
      </p:pic>
      <p:pic>
        <p:nvPicPr>
          <p:cNvPr id="8" name="Picture 7">
            <a:extLst>
              <a:ext uri="{FF2B5EF4-FFF2-40B4-BE49-F238E27FC236}">
                <a16:creationId xmlns:a16="http://schemas.microsoft.com/office/drawing/2014/main" id="{4B76C305-7B8C-24BB-985E-B604E84C5D08}"/>
              </a:ext>
            </a:extLst>
          </p:cNvPr>
          <p:cNvPicPr>
            <a:picLocks noChangeAspect="1"/>
          </p:cNvPicPr>
          <p:nvPr/>
        </p:nvPicPr>
        <p:blipFill>
          <a:blip r:embed="rId5"/>
          <a:stretch>
            <a:fillRect/>
          </a:stretch>
        </p:blipFill>
        <p:spPr>
          <a:xfrm>
            <a:off x="1219200" y="4064367"/>
            <a:ext cx="8688012" cy="2114845"/>
          </a:xfrm>
          <a:prstGeom prst="rect">
            <a:avLst/>
          </a:prstGeom>
        </p:spPr>
      </p:pic>
      <p:pic>
        <p:nvPicPr>
          <p:cNvPr id="10" name="Picture 9">
            <a:extLst>
              <a:ext uri="{FF2B5EF4-FFF2-40B4-BE49-F238E27FC236}">
                <a16:creationId xmlns:a16="http://schemas.microsoft.com/office/drawing/2014/main" id="{FCBEE3DA-54AF-A417-DD63-695D111ADB0C}"/>
              </a:ext>
            </a:extLst>
          </p:cNvPr>
          <p:cNvPicPr>
            <a:picLocks noChangeAspect="1"/>
          </p:cNvPicPr>
          <p:nvPr/>
        </p:nvPicPr>
        <p:blipFill>
          <a:blip r:embed="rId6"/>
          <a:stretch>
            <a:fillRect/>
          </a:stretch>
        </p:blipFill>
        <p:spPr>
          <a:xfrm>
            <a:off x="6560038" y="1331094"/>
            <a:ext cx="5601482" cy="1514686"/>
          </a:xfrm>
          <a:prstGeom prst="rect">
            <a:avLst/>
          </a:prstGeom>
        </p:spPr>
      </p:pic>
      <p:pic>
        <p:nvPicPr>
          <p:cNvPr id="12" name="Picture 11">
            <a:extLst>
              <a:ext uri="{FF2B5EF4-FFF2-40B4-BE49-F238E27FC236}">
                <a16:creationId xmlns:a16="http://schemas.microsoft.com/office/drawing/2014/main" id="{D8D91149-B032-367B-5902-43381E934B06}"/>
              </a:ext>
            </a:extLst>
          </p:cNvPr>
          <p:cNvPicPr>
            <a:picLocks noChangeAspect="1"/>
          </p:cNvPicPr>
          <p:nvPr/>
        </p:nvPicPr>
        <p:blipFill>
          <a:blip r:embed="rId7"/>
          <a:stretch>
            <a:fillRect/>
          </a:stretch>
        </p:blipFill>
        <p:spPr>
          <a:xfrm>
            <a:off x="6905685" y="2876260"/>
            <a:ext cx="5172797" cy="1381318"/>
          </a:xfrm>
          <a:prstGeom prst="rect">
            <a:avLst/>
          </a:prstGeom>
        </p:spPr>
      </p:pic>
    </p:spTree>
    <p:extLst>
      <p:ext uri="{BB962C8B-B14F-4D97-AF65-F5344CB8AC3E}">
        <p14:creationId xmlns:p14="http://schemas.microsoft.com/office/powerpoint/2010/main" val="3724048970"/>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76086D49-2406-21E9-6CB7-5B9F7AB4CB01}"/>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43E3AB46-ABB9-99F3-5556-9D1D9966743B}"/>
              </a:ext>
            </a:extLst>
          </p:cNvPr>
          <p:cNvSpPr txBox="1">
            <a:spLocks noGrp="1"/>
          </p:cNvSpPr>
          <p:nvPr>
            <p:ph type="title"/>
          </p:nvPr>
        </p:nvSpPr>
        <p:spPr>
          <a:xfrm>
            <a:off x="152400" y="1284288"/>
            <a:ext cx="5943600" cy="914400"/>
          </a:xfrm>
          <a:prstGeom prst="rect">
            <a:avLst/>
          </a:prstGeom>
          <a:noFill/>
          <a:ln>
            <a:noFill/>
          </a:ln>
        </p:spPr>
        <p:txBody>
          <a:bodyPr spcFirstLastPara="1" vert="horz" wrap="square" lIns="91425" tIns="45700" rIns="91425" bIns="45700" rtlCol="0" anchor="ctr" anchorCtr="0">
            <a:noAutofit/>
          </a:bodyPr>
          <a:lstStyle/>
          <a:p>
            <a:r>
              <a:rPr lang="en-IN" sz="3600" b="1" dirty="0"/>
              <a:t>Real-Time Attention Monitoring Performance</a:t>
            </a:r>
          </a:p>
        </p:txBody>
      </p:sp>
      <p:sp>
        <p:nvSpPr>
          <p:cNvPr id="175" name="Google Shape;175;p15">
            <a:extLst>
              <a:ext uri="{FF2B5EF4-FFF2-40B4-BE49-F238E27FC236}">
                <a16:creationId xmlns:a16="http://schemas.microsoft.com/office/drawing/2014/main" id="{E85CF0AE-ADD4-B378-4018-9C177A74E5AE}"/>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6297D4F1-57A2-945F-F414-4F87865ED7E2}"/>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12</a:t>
            </a:fld>
            <a:endParaRPr sz="1050">
              <a:solidFill>
                <a:srgbClr val="888888"/>
              </a:solidFill>
              <a:latin typeface="Calibri"/>
              <a:ea typeface="Calibri"/>
              <a:cs typeface="Calibri"/>
              <a:sym typeface="Calibri"/>
            </a:endParaRPr>
          </a:p>
        </p:txBody>
      </p:sp>
      <p:sp>
        <p:nvSpPr>
          <p:cNvPr id="7" name="Google Shape;173;p15">
            <a:extLst>
              <a:ext uri="{FF2B5EF4-FFF2-40B4-BE49-F238E27FC236}">
                <a16:creationId xmlns:a16="http://schemas.microsoft.com/office/drawing/2014/main" id="{6E88F7FA-3214-6C7F-1C08-DBDEF953042C}"/>
              </a:ext>
            </a:extLst>
          </p:cNvPr>
          <p:cNvSpPr txBox="1">
            <a:spLocks/>
          </p:cNvSpPr>
          <p:nvPr/>
        </p:nvSpPr>
        <p:spPr>
          <a:xfrm>
            <a:off x="5791200" y="723157"/>
            <a:ext cx="5256088" cy="914400"/>
          </a:xfrm>
          <a:prstGeom prst="rect">
            <a:avLst/>
          </a:prstGeom>
          <a:noFill/>
          <a:ln>
            <a:noFill/>
          </a:ln>
        </p:spPr>
        <p:txBody>
          <a:bodyPr spcFirstLastPara="1" vert="horz" wrap="square" lIns="91425" tIns="45700" rIns="91425" bIns="4570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IN" sz="3600" b="1" dirty="0"/>
              <a:t>Validated Learning Improvements</a:t>
            </a:r>
          </a:p>
        </p:txBody>
      </p:sp>
      <p:pic>
        <p:nvPicPr>
          <p:cNvPr id="10" name="Picture 9">
            <a:extLst>
              <a:ext uri="{FF2B5EF4-FFF2-40B4-BE49-F238E27FC236}">
                <a16:creationId xmlns:a16="http://schemas.microsoft.com/office/drawing/2014/main" id="{CB26E0DD-DFF5-8000-FB2D-25049273C9E1}"/>
              </a:ext>
            </a:extLst>
          </p:cNvPr>
          <p:cNvPicPr>
            <a:picLocks noChangeAspect="1"/>
          </p:cNvPicPr>
          <p:nvPr/>
        </p:nvPicPr>
        <p:blipFill>
          <a:blip r:embed="rId3"/>
          <a:stretch>
            <a:fillRect/>
          </a:stretch>
        </p:blipFill>
        <p:spPr>
          <a:xfrm>
            <a:off x="152400" y="2174659"/>
            <a:ext cx="5087060" cy="714475"/>
          </a:xfrm>
          <a:prstGeom prst="rect">
            <a:avLst/>
          </a:prstGeom>
        </p:spPr>
      </p:pic>
      <p:pic>
        <p:nvPicPr>
          <p:cNvPr id="12" name="Picture 11">
            <a:extLst>
              <a:ext uri="{FF2B5EF4-FFF2-40B4-BE49-F238E27FC236}">
                <a16:creationId xmlns:a16="http://schemas.microsoft.com/office/drawing/2014/main" id="{F89A1A00-9027-31DE-6097-87391562EC94}"/>
              </a:ext>
            </a:extLst>
          </p:cNvPr>
          <p:cNvPicPr>
            <a:picLocks noChangeAspect="1"/>
          </p:cNvPicPr>
          <p:nvPr/>
        </p:nvPicPr>
        <p:blipFill>
          <a:blip r:embed="rId4"/>
          <a:stretch>
            <a:fillRect/>
          </a:stretch>
        </p:blipFill>
        <p:spPr>
          <a:xfrm>
            <a:off x="457200" y="2889134"/>
            <a:ext cx="4419600" cy="2405850"/>
          </a:xfrm>
          <a:prstGeom prst="rect">
            <a:avLst/>
          </a:prstGeom>
        </p:spPr>
      </p:pic>
      <p:pic>
        <p:nvPicPr>
          <p:cNvPr id="14" name="Picture 13">
            <a:extLst>
              <a:ext uri="{FF2B5EF4-FFF2-40B4-BE49-F238E27FC236}">
                <a16:creationId xmlns:a16="http://schemas.microsoft.com/office/drawing/2014/main" id="{72F584D5-1A8F-7E4B-5218-BC3C99E42246}"/>
              </a:ext>
            </a:extLst>
          </p:cNvPr>
          <p:cNvPicPr>
            <a:picLocks noChangeAspect="1"/>
          </p:cNvPicPr>
          <p:nvPr/>
        </p:nvPicPr>
        <p:blipFill>
          <a:blip r:embed="rId5"/>
          <a:stretch>
            <a:fillRect/>
          </a:stretch>
        </p:blipFill>
        <p:spPr>
          <a:xfrm>
            <a:off x="152400" y="5455953"/>
            <a:ext cx="5534629" cy="910220"/>
          </a:xfrm>
          <a:prstGeom prst="rect">
            <a:avLst/>
          </a:prstGeom>
        </p:spPr>
      </p:pic>
      <p:pic>
        <p:nvPicPr>
          <p:cNvPr id="16" name="Picture 15">
            <a:extLst>
              <a:ext uri="{FF2B5EF4-FFF2-40B4-BE49-F238E27FC236}">
                <a16:creationId xmlns:a16="http://schemas.microsoft.com/office/drawing/2014/main" id="{A511872F-87BE-F3DD-3B93-10402FF6C10E}"/>
              </a:ext>
            </a:extLst>
          </p:cNvPr>
          <p:cNvPicPr>
            <a:picLocks noChangeAspect="1"/>
          </p:cNvPicPr>
          <p:nvPr/>
        </p:nvPicPr>
        <p:blipFill>
          <a:blip r:embed="rId6"/>
          <a:stretch>
            <a:fillRect/>
          </a:stretch>
        </p:blipFill>
        <p:spPr>
          <a:xfrm>
            <a:off x="6808839" y="1822288"/>
            <a:ext cx="4925961" cy="4551259"/>
          </a:xfrm>
          <a:prstGeom prst="rect">
            <a:avLst/>
          </a:prstGeom>
        </p:spPr>
      </p:pic>
    </p:spTree>
    <p:extLst>
      <p:ext uri="{BB962C8B-B14F-4D97-AF65-F5344CB8AC3E}">
        <p14:creationId xmlns:p14="http://schemas.microsoft.com/office/powerpoint/2010/main" val="1378171330"/>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DF66A081-2E27-3F32-87FF-94061962B4E8}"/>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864389E7-E690-39FF-5A52-2CEEF7E7B17A}"/>
              </a:ext>
            </a:extLst>
          </p:cNvPr>
          <p:cNvSpPr txBox="1">
            <a:spLocks noGrp="1"/>
          </p:cNvSpPr>
          <p:nvPr>
            <p:ph type="title"/>
          </p:nvPr>
        </p:nvSpPr>
        <p:spPr>
          <a:xfrm>
            <a:off x="2057400" y="1219200"/>
            <a:ext cx="8229600" cy="914400"/>
          </a:xfrm>
          <a:prstGeom prst="rect">
            <a:avLst/>
          </a:prstGeom>
          <a:noFill/>
          <a:ln>
            <a:noFill/>
          </a:ln>
        </p:spPr>
        <p:txBody>
          <a:bodyPr spcFirstLastPara="1" vert="horz" wrap="square" lIns="91425" tIns="45700" rIns="91425" bIns="45700" rtlCol="0" anchor="ctr" anchorCtr="0">
            <a:noAutofit/>
          </a:bodyPr>
          <a:lstStyle/>
          <a:p>
            <a:r>
              <a:rPr lang="en-IN" sz="3600" b="1" dirty="0"/>
              <a:t>Key Contributions &amp; Real-World Impact</a:t>
            </a:r>
          </a:p>
        </p:txBody>
      </p:sp>
      <p:sp>
        <p:nvSpPr>
          <p:cNvPr id="175" name="Google Shape;175;p15">
            <a:extLst>
              <a:ext uri="{FF2B5EF4-FFF2-40B4-BE49-F238E27FC236}">
                <a16:creationId xmlns:a16="http://schemas.microsoft.com/office/drawing/2014/main" id="{60963622-F2BB-6D2B-BC8D-42552CB0C92F}"/>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232DD63C-ABA3-38DF-DBDC-17DAC64EA437}"/>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13</a:t>
            </a:fld>
            <a:endParaRPr sz="1050">
              <a:solidFill>
                <a:srgbClr val="888888"/>
              </a:solidFill>
              <a:latin typeface="Calibri"/>
              <a:ea typeface="Calibri"/>
              <a:cs typeface="Calibri"/>
              <a:sym typeface="Calibri"/>
            </a:endParaRPr>
          </a:p>
        </p:txBody>
      </p:sp>
      <p:pic>
        <p:nvPicPr>
          <p:cNvPr id="5" name="Picture 4">
            <a:extLst>
              <a:ext uri="{FF2B5EF4-FFF2-40B4-BE49-F238E27FC236}">
                <a16:creationId xmlns:a16="http://schemas.microsoft.com/office/drawing/2014/main" id="{3310FC15-2230-678F-4235-622262C7F7CE}"/>
              </a:ext>
            </a:extLst>
          </p:cNvPr>
          <p:cNvPicPr>
            <a:picLocks noChangeAspect="1"/>
          </p:cNvPicPr>
          <p:nvPr/>
        </p:nvPicPr>
        <p:blipFill>
          <a:blip r:embed="rId3"/>
          <a:stretch>
            <a:fillRect/>
          </a:stretch>
        </p:blipFill>
        <p:spPr>
          <a:xfrm>
            <a:off x="1823430" y="1981200"/>
            <a:ext cx="8697539" cy="4239217"/>
          </a:xfrm>
          <a:prstGeom prst="rect">
            <a:avLst/>
          </a:prstGeom>
        </p:spPr>
      </p:pic>
    </p:spTree>
    <p:extLst>
      <p:ext uri="{BB962C8B-B14F-4D97-AF65-F5344CB8AC3E}">
        <p14:creationId xmlns:p14="http://schemas.microsoft.com/office/powerpoint/2010/main" val="2078075480"/>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C13D7F35-EC3A-394A-AB06-785311827171}"/>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77E8AEEE-FF55-B2D6-3D34-18CB86ADDC93}"/>
              </a:ext>
            </a:extLst>
          </p:cNvPr>
          <p:cNvSpPr txBox="1">
            <a:spLocks noGrp="1"/>
          </p:cNvSpPr>
          <p:nvPr>
            <p:ph type="title"/>
          </p:nvPr>
        </p:nvSpPr>
        <p:spPr>
          <a:xfrm>
            <a:off x="2057400" y="1219200"/>
            <a:ext cx="8229600" cy="914400"/>
          </a:xfrm>
          <a:prstGeom prst="rect">
            <a:avLst/>
          </a:prstGeom>
          <a:noFill/>
          <a:ln>
            <a:noFill/>
          </a:ln>
        </p:spPr>
        <p:txBody>
          <a:bodyPr spcFirstLastPara="1" vert="horz" wrap="square" lIns="91425" tIns="45700" rIns="91425" bIns="45700" rtlCol="0" anchor="ctr" anchorCtr="0">
            <a:noAutofit/>
          </a:bodyPr>
          <a:lstStyle/>
          <a:p>
            <a:r>
              <a:rPr lang="en-IN" sz="3600" b="1" dirty="0"/>
              <a:t>Future Enhancements and Key References</a:t>
            </a:r>
          </a:p>
        </p:txBody>
      </p:sp>
      <p:sp>
        <p:nvSpPr>
          <p:cNvPr id="175" name="Google Shape;175;p15">
            <a:extLst>
              <a:ext uri="{FF2B5EF4-FFF2-40B4-BE49-F238E27FC236}">
                <a16:creationId xmlns:a16="http://schemas.microsoft.com/office/drawing/2014/main" id="{F5CE643D-FFE7-EE87-25D8-3FA89B47E72D}"/>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4E77D7BC-198C-E927-3D63-24A437F2AEB5}"/>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14</a:t>
            </a:fld>
            <a:endParaRPr sz="1050">
              <a:solidFill>
                <a:srgbClr val="888888"/>
              </a:solidFill>
              <a:latin typeface="Calibri"/>
              <a:ea typeface="Calibri"/>
              <a:cs typeface="Calibri"/>
              <a:sym typeface="Calibri"/>
            </a:endParaRPr>
          </a:p>
        </p:txBody>
      </p:sp>
      <p:sp>
        <p:nvSpPr>
          <p:cNvPr id="6" name="TextBox 5">
            <a:extLst>
              <a:ext uri="{FF2B5EF4-FFF2-40B4-BE49-F238E27FC236}">
                <a16:creationId xmlns:a16="http://schemas.microsoft.com/office/drawing/2014/main" id="{15A74515-F5D8-159C-E8EE-E8D401685CFC}"/>
              </a:ext>
            </a:extLst>
          </p:cNvPr>
          <p:cNvSpPr txBox="1"/>
          <p:nvPr/>
        </p:nvSpPr>
        <p:spPr>
          <a:xfrm>
            <a:off x="5867400" y="2133600"/>
            <a:ext cx="5257800" cy="3139321"/>
          </a:xfrm>
          <a:prstGeom prst="rect">
            <a:avLst/>
          </a:prstGeom>
          <a:noFill/>
        </p:spPr>
        <p:txBody>
          <a:bodyPr wrap="square">
            <a:spAutoFit/>
          </a:bodyPr>
          <a:lstStyle/>
          <a:p>
            <a:r>
              <a:rPr lang="en-IN" dirty="0"/>
              <a:t> [1] Park et al. (2001) - Web-Based Real-Time Monitoring</a:t>
            </a:r>
          </a:p>
          <a:p>
            <a:r>
              <a:rPr lang="en-IN" dirty="0"/>
              <a:t> [2] Guo et al. (2022) - Attention Mechanisms Survey </a:t>
            </a:r>
          </a:p>
          <a:p>
            <a:r>
              <a:rPr lang="en-IN" dirty="0"/>
              <a:t>[3] DAISEE Consortium - Multi-Affect Classification</a:t>
            </a:r>
          </a:p>
          <a:p>
            <a:r>
              <a:rPr lang="en-IN" dirty="0"/>
              <a:t> [4] Reddy et al. (2025) - Driver Drowsiness CNN (89.5%, 15 fps) </a:t>
            </a:r>
          </a:p>
          <a:p>
            <a:r>
              <a:rPr lang="en-IN" dirty="0"/>
              <a:t>[7] Zerkouk et al. (2024) - ITS Review (20% improvement)</a:t>
            </a:r>
          </a:p>
          <a:p>
            <a:r>
              <a:rPr lang="en-IN" dirty="0"/>
              <a:t> [11] </a:t>
            </a:r>
            <a:r>
              <a:rPr lang="en-IN" dirty="0" err="1"/>
              <a:t>Kabudi</a:t>
            </a:r>
            <a:r>
              <a:rPr lang="en-IN" dirty="0"/>
              <a:t> et al. (2021) - Adaptive Learning Systems </a:t>
            </a:r>
          </a:p>
          <a:p>
            <a:r>
              <a:rPr lang="en-IN" dirty="0"/>
              <a:t>[13] Ruiz et al. (2024) - Gamification Impact Full bibliography (16 references) available in paper</a:t>
            </a:r>
          </a:p>
        </p:txBody>
      </p:sp>
      <p:pic>
        <p:nvPicPr>
          <p:cNvPr id="8" name="Picture 7">
            <a:extLst>
              <a:ext uri="{FF2B5EF4-FFF2-40B4-BE49-F238E27FC236}">
                <a16:creationId xmlns:a16="http://schemas.microsoft.com/office/drawing/2014/main" id="{A57D5C5D-B91E-0E22-E7B0-6E8A46C9FBD4}"/>
              </a:ext>
            </a:extLst>
          </p:cNvPr>
          <p:cNvPicPr>
            <a:picLocks noChangeAspect="1"/>
          </p:cNvPicPr>
          <p:nvPr/>
        </p:nvPicPr>
        <p:blipFill>
          <a:blip r:embed="rId3"/>
          <a:stretch>
            <a:fillRect/>
          </a:stretch>
        </p:blipFill>
        <p:spPr>
          <a:xfrm>
            <a:off x="854698" y="1936279"/>
            <a:ext cx="4639322" cy="4334480"/>
          </a:xfrm>
          <a:prstGeom prst="rect">
            <a:avLst/>
          </a:prstGeom>
        </p:spPr>
      </p:pic>
    </p:spTree>
    <p:extLst>
      <p:ext uri="{BB962C8B-B14F-4D97-AF65-F5344CB8AC3E}">
        <p14:creationId xmlns:p14="http://schemas.microsoft.com/office/powerpoint/2010/main" val="38231263"/>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a:extLst>
            <a:ext uri="{FF2B5EF4-FFF2-40B4-BE49-F238E27FC236}">
              <a16:creationId xmlns:a16="http://schemas.microsoft.com/office/drawing/2014/main" id="{A4415E34-2BF0-51EB-CC57-5A5AA3ECB343}"/>
            </a:ext>
          </a:extLst>
        </p:cNvPr>
        <p:cNvGrpSpPr/>
        <p:nvPr/>
      </p:nvGrpSpPr>
      <p:grpSpPr>
        <a:xfrm>
          <a:off x="0" y="0"/>
          <a:ext cx="0" cy="0"/>
          <a:chOff x="0" y="0"/>
          <a:chExt cx="0" cy="0"/>
        </a:xfrm>
      </p:grpSpPr>
      <p:sp>
        <p:nvSpPr>
          <p:cNvPr id="173" name="Google Shape;173;p15">
            <a:extLst>
              <a:ext uri="{FF2B5EF4-FFF2-40B4-BE49-F238E27FC236}">
                <a16:creationId xmlns:a16="http://schemas.microsoft.com/office/drawing/2014/main" id="{8C714396-05E7-1FA5-B52F-19B28E3F9401}"/>
              </a:ext>
            </a:extLst>
          </p:cNvPr>
          <p:cNvSpPr txBox="1">
            <a:spLocks noGrp="1"/>
          </p:cNvSpPr>
          <p:nvPr>
            <p:ph type="title"/>
          </p:nvPr>
        </p:nvSpPr>
        <p:spPr>
          <a:xfrm>
            <a:off x="2057400" y="1219200"/>
            <a:ext cx="8229600" cy="914400"/>
          </a:xfrm>
          <a:prstGeom prst="rect">
            <a:avLst/>
          </a:prstGeom>
          <a:noFill/>
          <a:ln>
            <a:noFill/>
          </a:ln>
        </p:spPr>
        <p:txBody>
          <a:bodyPr spcFirstLastPara="1" vert="horz" wrap="square" lIns="91425" tIns="45700" rIns="91425" bIns="45700" rtlCol="0" anchor="ctr" anchorCtr="0">
            <a:noAutofit/>
          </a:bodyPr>
          <a:lstStyle/>
          <a:p>
            <a:endParaRPr lang="en-IN" sz="3600" b="1" dirty="0"/>
          </a:p>
        </p:txBody>
      </p:sp>
      <p:sp>
        <p:nvSpPr>
          <p:cNvPr id="175" name="Google Shape;175;p15">
            <a:extLst>
              <a:ext uri="{FF2B5EF4-FFF2-40B4-BE49-F238E27FC236}">
                <a16:creationId xmlns:a16="http://schemas.microsoft.com/office/drawing/2014/main" id="{FEE5A07B-D4DE-56D0-838F-68B0AE8B4C72}"/>
              </a:ext>
            </a:extLst>
          </p:cNvPr>
          <p:cNvSpPr txBox="1">
            <a:spLocks noGrp="1"/>
          </p:cNvSpPr>
          <p:nvPr>
            <p:ph type="ftr" idx="11"/>
          </p:nvPr>
        </p:nvSpPr>
        <p:spPr>
          <a:xfrm>
            <a:off x="4646488" y="6373547"/>
            <a:ext cx="2895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400"/>
            </a:pPr>
            <a:r>
              <a:rPr lang="en-US" sz="1050">
                <a:solidFill>
                  <a:srgbClr val="888888"/>
                </a:solidFill>
                <a:latin typeface="Calibri"/>
                <a:ea typeface="Calibri"/>
                <a:cs typeface="Calibri"/>
                <a:sym typeface="Calibri"/>
              </a:rPr>
              <a:t>Capstone Project Review, AY 25-26, STME, NMIMS Navi Mumbai</a:t>
            </a:r>
            <a:endParaRPr sz="1050">
              <a:solidFill>
                <a:srgbClr val="888888"/>
              </a:solidFill>
              <a:latin typeface="Calibri"/>
              <a:ea typeface="Calibri"/>
              <a:cs typeface="Calibri"/>
              <a:sym typeface="Calibri"/>
            </a:endParaRPr>
          </a:p>
        </p:txBody>
      </p:sp>
      <p:sp>
        <p:nvSpPr>
          <p:cNvPr id="176" name="Google Shape;176;p15">
            <a:extLst>
              <a:ext uri="{FF2B5EF4-FFF2-40B4-BE49-F238E27FC236}">
                <a16:creationId xmlns:a16="http://schemas.microsoft.com/office/drawing/2014/main" id="{89EF5827-D2DB-5E16-9786-0D54600311C5}"/>
              </a:ext>
            </a:extLst>
          </p:cNvPr>
          <p:cNvSpPr txBox="1">
            <a:spLocks noGrp="1"/>
          </p:cNvSpPr>
          <p:nvPr>
            <p:ph type="sldNum" idx="12"/>
          </p:nvPr>
        </p:nvSpPr>
        <p:spPr>
          <a:xfrm>
            <a:off x="8077200" y="6373547"/>
            <a:ext cx="2133600" cy="365125"/>
          </a:xfrm>
          <a:prstGeom prst="rect">
            <a:avLst/>
          </a:prstGeom>
          <a:noFill/>
          <a:ln>
            <a:noFill/>
          </a:ln>
        </p:spPr>
        <p:txBody>
          <a:bodyPr spcFirstLastPara="1" vert="horz" wrap="square" lIns="91425" tIns="45700" rIns="91425" bIns="45700" rtlCol="0" anchor="ctr" anchorCtr="0">
            <a:noAutofit/>
          </a:bodyPr>
          <a:lstStyle/>
          <a:p>
            <a:pPr>
              <a:buClr>
                <a:srgbClr val="000000"/>
              </a:buClr>
              <a:buSzPts val="1050"/>
            </a:pPr>
            <a:fld id="{00000000-1234-1234-1234-123412341234}" type="slidenum">
              <a:rPr lang="en-IN" sz="1050">
                <a:solidFill>
                  <a:srgbClr val="888888"/>
                </a:solidFill>
                <a:latin typeface="Calibri"/>
                <a:ea typeface="Calibri"/>
                <a:cs typeface="Calibri"/>
                <a:sym typeface="Calibri"/>
              </a:rPr>
              <a:pPr>
                <a:buClr>
                  <a:srgbClr val="000000"/>
                </a:buClr>
                <a:buSzPts val="1050"/>
              </a:pPr>
              <a:t>15</a:t>
            </a:fld>
            <a:endParaRPr sz="1050">
              <a:solidFill>
                <a:srgbClr val="888888"/>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CCE4991B-19D1-221C-8ADE-60E9FD52FAAA}"/>
              </a:ext>
            </a:extLst>
          </p:cNvPr>
          <p:cNvPicPr>
            <a:picLocks noChangeAspect="1"/>
          </p:cNvPicPr>
          <p:nvPr/>
        </p:nvPicPr>
        <p:blipFill>
          <a:blip r:embed="rId3"/>
          <a:stretch>
            <a:fillRect/>
          </a:stretch>
        </p:blipFill>
        <p:spPr>
          <a:xfrm>
            <a:off x="1676400" y="1219200"/>
            <a:ext cx="9342293" cy="5635259"/>
          </a:xfrm>
          <a:prstGeom prst="rect">
            <a:avLst/>
          </a:prstGeom>
        </p:spPr>
      </p:pic>
    </p:spTree>
    <p:extLst>
      <p:ext uri="{BB962C8B-B14F-4D97-AF65-F5344CB8AC3E}">
        <p14:creationId xmlns:p14="http://schemas.microsoft.com/office/powerpoint/2010/main" val="3019063566"/>
      </p:ext>
    </p:extLst>
  </p:cSld>
  <p:clrMapOvr>
    <a:masterClrMapping/>
  </p:clrMapOvr>
  <mc:AlternateContent xmlns:mc="http://schemas.openxmlformats.org/markup-compatibility/2006">
    <mc:Choice xmlns:p14="http://schemas.microsoft.com/office/powerpoint/2010/main" Requires="p14">
      <p:transition spd="slow" p14:dur="2000" advClick="0">
        <p14:prism isContent="1"/>
      </p:transition>
    </mc:Choice>
    <mc:Fallback>
      <p:transition spd="slow" advClick="0">
        <p:fade/>
      </p:transition>
    </mc:Fallback>
  </mc:AlternateContent>
</p:sld>
</file>

<file path=ppt/theme/theme1.xml><?xml version="1.0" encoding="utf-8"?>
<a:theme xmlns:a="http://schemas.openxmlformats.org/drawingml/2006/main" name="STM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ME PPT Template" id="{0F0D7AA8-361A-4F37-8516-0EFE3419025B}" vid="{8744BC16-5615-46D5-8B96-B46A569913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STME PPT Template</Template>
  <TotalTime>996</TotalTime>
  <Words>2153</Words>
  <Application>Microsoft Office PowerPoint</Application>
  <PresentationFormat>Widescreen</PresentationFormat>
  <Paragraphs>86</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Narrow</vt:lpstr>
      <vt:lpstr>Book Antiqua</vt:lpstr>
      <vt:lpstr>Calibri</vt:lpstr>
      <vt:lpstr>Calibri Light</vt:lpstr>
      <vt:lpstr>Noto Sans Symbols</vt:lpstr>
      <vt:lpstr>STME Theme</vt:lpstr>
      <vt:lpstr>                                                     BTech CE Final Presentation (Sem VII) A.Y. 2025-2026 Project Title:Real-Time Multimodal AI Framework for Student Engagement Detection and Adaptive Assessment Generation </vt:lpstr>
      <vt:lpstr>Roadmap</vt:lpstr>
      <vt:lpstr>The Challenge and Our Vision in Modern Education </vt:lpstr>
      <vt:lpstr>Identifying the Research Gap</vt:lpstr>
      <vt:lpstr>Building on Research Foundations</vt:lpstr>
      <vt:lpstr>Building on Three-Stage System Architecture  Foundations</vt:lpstr>
      <vt:lpstr>Multimodal Behavioural Indicators</vt:lpstr>
      <vt:lpstr>PowerPoint Presentation</vt:lpstr>
      <vt:lpstr>Multi-Modal Document Processing</vt:lpstr>
      <vt:lpstr>Multi-Modal Document Processing</vt:lpstr>
      <vt:lpstr>Tech Stack &amp; Performance</vt:lpstr>
      <vt:lpstr>Real-Time Attention Monitoring Performance</vt:lpstr>
      <vt:lpstr>Key Contributions &amp; Real-World Impact</vt:lpstr>
      <vt:lpstr>Future Enhancements and Key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Electrostatics</dc:title>
  <dc:creator>Divyang Jadav</dc:creator>
  <cp:lastModifiedBy>VEDASHREE BHANDIGARE - 70022200471</cp:lastModifiedBy>
  <cp:revision>188</cp:revision>
  <cp:lastPrinted>2019-07-19T07:29:11Z</cp:lastPrinted>
  <dcterms:created xsi:type="dcterms:W3CDTF">2019-09-30T10:49:12Z</dcterms:created>
  <dcterms:modified xsi:type="dcterms:W3CDTF">2025-11-07T14:42:17Z</dcterms:modified>
</cp:coreProperties>
</file>